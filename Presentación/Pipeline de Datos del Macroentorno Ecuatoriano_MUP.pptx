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Lato Black" panose="020F0502020204030203" pitchFamily="34" charset="0"/>
      <p:bold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Poppins SemiBold" panose="000007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4090987"/>
            <a:ext cx="6607968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523875"/>
            <a:ext cx="10953750" cy="58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1709737"/>
            <a:ext cx="22193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619125" y="2176462"/>
            <a:ext cx="6938367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Pipeline de Datos del Macroentorno Ecuatoriano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19125" y="3414712"/>
            <a:ext cx="660796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SQLite + Power BI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19125" y="4338637"/>
            <a:ext cx="323254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Autor: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Pedro Vargas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994546" y="4338637"/>
            <a:ext cx="323254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Curso: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Prácticum 1.2+ (4to Ciclo)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19125" y="4814887"/>
            <a:ext cx="323254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Institución: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Universidad Técnica Particular de Loja (UTPL)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994546" y="4814887"/>
            <a:ext cx="323254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Fecha: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Julio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1381125"/>
            <a:ext cx="10953750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2716410"/>
            <a:ext cx="3524250" cy="361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33875" y="2716410"/>
            <a:ext cx="3524250" cy="361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48625" y="2716410"/>
            <a:ext cx="3524250" cy="361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952500" y="1619250"/>
            <a:ext cx="108013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AB30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 Central de Investigación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1952625"/>
            <a:ext cx="10287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"¿Cómo se comporta la economía y educación de Ecuador, y qué relación hay entre bachilleres y empresas por provincia?"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8200" y="3421260"/>
            <a:ext cx="324040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 1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8200" y="3754635"/>
            <a:ext cx="30861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¿Cómo ha evolucionado la economía ecuatoriana en los últimos 20 años?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552950" y="3421260"/>
            <a:ext cx="324040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 2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552950" y="3754635"/>
            <a:ext cx="30861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¿En qué sectores y provincias se concentran la actividad económica y el empleo?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267700" y="3421260"/>
            <a:ext cx="324040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Pregunta 3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267700" y="3754635"/>
            <a:ext cx="30861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¿Dónde están los bachilleres del Ecuador y cuántas empresas hay en cada provincia?</a:t>
            </a:r>
            <a:endParaRPr/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200" y="297358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52950" y="297358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67700" y="297358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Problema y Objetivo Analítico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4724" y="1952625"/>
            <a:ext cx="4587875" cy="443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1952625"/>
            <a:ext cx="30194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971925" y="1952625"/>
            <a:ext cx="30194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981075" y="2200275"/>
            <a:ext cx="2530316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Banco Central del Ecuador (BCE)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866775" y="2200275"/>
            <a:ext cx="38100" cy="62865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4333875" y="2200275"/>
            <a:ext cx="2530316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Ministerio de Educación (MINEDUC)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4219575" y="2200275"/>
            <a:ext cx="38100" cy="9429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10048577" y="2057400"/>
            <a:ext cx="137189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datos_crudos_bronze/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7477125" y="2076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7629525" y="2076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7781925" y="20764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1247775" y="3038475"/>
            <a:ext cx="21431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Indicadores Macro: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PIB Real Anual, PIB per Cápita.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247775" y="3657600"/>
            <a:ext cx="21431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Actividad Provincial: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VAB Provincial por sector CIIU.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247775" y="4276725"/>
            <a:ext cx="21431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Finanzas: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Petróleo WTI y Riesgo País diario.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247775" y="4895850"/>
            <a:ext cx="21431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Encuesta IEE: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Expectativas Empresariales mensuales.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4600575" y="3352800"/>
            <a:ext cx="2143125" cy="6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Registro AMIE (23-24):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Archivo unificado de la oferta educativa.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4600575" y="4193381"/>
            <a:ext cx="21431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Filtro Clave:</a:t>
            </a: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Estudiantes de 3ro de Bachillerato.</a:t>
            </a:r>
            <a:endParaRPr/>
          </a:p>
        </p:txBody>
      </p:sp>
      <p:pic>
        <p:nvPicPr>
          <p:cNvPr id="145" name="Google Shape;14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30622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6775" y="36814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6775" y="430053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6775" y="491966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219575" y="337661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219575" y="421719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Fuentes de Datos (Capa Bronze)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D7E62E-BEFB-F27C-CA8B-0465EC540B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689"/>
          <a:stretch/>
        </p:blipFill>
        <p:spPr bwMode="auto">
          <a:xfrm>
            <a:off x="7603066" y="2405062"/>
            <a:ext cx="1609725" cy="250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EECB2B5-279C-425A-224C-6F7F3AD37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3549" y="3429000"/>
            <a:ext cx="238125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2531268"/>
            <a:ext cx="33654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531268"/>
            <a:ext cx="33654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07275" y="2531268"/>
            <a:ext cx="33654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25200" y="600075"/>
            <a:ext cx="4476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4829175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1314450" y="4826793"/>
            <a:ext cx="71628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La automatización con SQLite y Python asegura que el pipeline sea reproducible y libre de intervención manual.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876300" y="3636168"/>
            <a:ext cx="285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Archivos CSV y Excel depositados localmente desde RPA.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876300" y="4093368"/>
            <a:ext cx="2851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Entrada: XLS, XLSX, CSV</a:t>
            </a:r>
            <a:endParaRPr/>
          </a:p>
        </p:txBody>
      </p:sp>
      <p:pic>
        <p:nvPicPr>
          <p:cNvPr id="166" name="Google Shape;16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27450" y="3398043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4670375" y="3636168"/>
            <a:ext cx="285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8 tablas limpias e indexadas dentro de SQLite, sin nulos duplicados.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4670375" y="4093368"/>
            <a:ext cx="2851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Motor: SQLite 3</a:t>
            </a:r>
            <a:endParaRPr/>
          </a:p>
        </p:txBody>
      </p:sp>
      <p:pic>
        <p:nvPicPr>
          <p:cNvPr id="169" name="Google Shape;169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21525" y="3398043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8464450" y="3636168"/>
            <a:ext cx="2851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 vistas SQL consolidadas listas para el consumo directo del Dashboard.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8464450" y="4093368"/>
            <a:ext cx="2851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Visualizador: Power BI</a:t>
            </a:r>
            <a:endParaRPr/>
          </a:p>
        </p:txBody>
      </p:sp>
      <p:pic>
        <p:nvPicPr>
          <p:cNvPr id="172" name="Google Shape;172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644550" y="2788443"/>
            <a:ext cx="13144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/>
          <p:nvPr/>
        </p:nvSpPr>
        <p:spPr>
          <a:xfrm>
            <a:off x="805022" y="3207543"/>
            <a:ext cx="299365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Datos Crudos</a:t>
            </a:r>
            <a:endParaRPr/>
          </a:p>
        </p:txBody>
      </p:sp>
      <p:pic>
        <p:nvPicPr>
          <p:cNvPr id="174" name="Google Shape;174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95776" y="2788443"/>
            <a:ext cx="12001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4599097" y="3207543"/>
            <a:ext cx="299365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Tablas Limpias</a:t>
            </a:r>
            <a:endParaRPr/>
          </a:p>
        </p:txBody>
      </p:sp>
      <p:pic>
        <p:nvPicPr>
          <p:cNvPr id="176" name="Google Shape;176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332714" y="2788443"/>
            <a:ext cx="11144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/>
        </p:nvSpPr>
        <p:spPr>
          <a:xfrm>
            <a:off x="8393173" y="3207543"/>
            <a:ext cx="299365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Vistas de Negocio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Arquitectura del Pipeline Medallón</a:t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25200" y="600075"/>
            <a:ext cx="4476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1000125" y="2596753"/>
            <a:ext cx="5460206" cy="6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1. Tratamiento de Nulos: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"Variación PIB nula en el año 2000 (no hay año base) — se dejó de esa forma sin forzar imputaciones artificiales".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000125" y="3437334"/>
            <a:ext cx="5460206" cy="6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2. Eliminación de Duplicados: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"Se identificaron y eliminaron de forma estricta 12 RUC duplicados dentro del directorio empresarial de Supercias".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1000125" y="4277915"/>
            <a:ext cx="5460206" cy="6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3. Corrección de Formatos: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"Fechas normalizadas al formato ISO (AAAA-MM-DD); nombres de provincias limpiados y estandarizados a MAYÚSCULAS".</a:t>
            </a:r>
            <a:endParaRPr/>
          </a:p>
        </p:txBody>
      </p:sp>
      <p:pic>
        <p:nvPicPr>
          <p:cNvPr id="196" name="Google Shape;19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26205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" y="346114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" y="4301728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Limpieza de Datos: 3 Reglas Aplicadas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FBB964E-D207-DECF-B45A-BE05A166A1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319"/>
          <a:stretch/>
        </p:blipFill>
        <p:spPr bwMode="auto">
          <a:xfrm>
            <a:off x="6739731" y="1097226"/>
            <a:ext cx="4735628" cy="321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CC87CC5-96C7-DD30-424B-A16836CA77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250"/>
          <a:stretch/>
        </p:blipFill>
        <p:spPr bwMode="auto">
          <a:xfrm>
            <a:off x="5071533" y="4733460"/>
            <a:ext cx="6403826" cy="1894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 txBox="1"/>
          <p:nvPr/>
        </p:nvSpPr>
        <p:spPr>
          <a:xfrm>
            <a:off x="619125" y="2667000"/>
            <a:ext cx="446055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Estructura Silver normalizada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619125" y="3124200"/>
            <a:ext cx="42481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diseño del modelo asegura la consistencia e integridad referencial de todos los indicadores del macroentorno.</a:t>
            </a:r>
            <a:endParaRPr/>
          </a:p>
        </p:txBody>
      </p:sp>
      <p:pic>
        <p:nvPicPr>
          <p:cNvPr id="215" name="Google Shape;21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46005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1257300" y="4505325"/>
            <a:ext cx="3371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Lato Black"/>
                <a:ea typeface="Lato Black"/>
                <a:cs typeface="Lato Black"/>
                <a:sym typeface="Lato Black"/>
              </a:rPr>
              <a:t>8 tablas Silver:</a:t>
            </a:r>
            <a:r>
              <a:rPr lang="en-US" sz="10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2 dimensiones unificadas (geografía, tiempo) + 6 tablas de hechos transaccionales.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 Relacional (Esquema Capa Silver)</a:t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ECC95B-4D01-82ED-3FD8-5D2A4706EA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228" y="2095834"/>
            <a:ext cx="7393334" cy="32889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619125" y="2893814"/>
            <a:ext cx="446055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Persistencia</a:t>
            </a:r>
            <a:r>
              <a:rPr lang="en-US" sz="1650" b="0" i="0" u="none" strike="noStrike" cap="none" dirty="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650" b="0" i="0" u="none" strike="noStrike" cap="none" dirty="0" err="1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Relacional</a:t>
            </a:r>
            <a:endParaRPr dirty="0"/>
          </a:p>
        </p:txBody>
      </p:sp>
      <p:sp>
        <p:nvSpPr>
          <p:cNvPr id="236" name="Google Shape;236;p19"/>
          <p:cNvSpPr txBox="1"/>
          <p:nvPr/>
        </p:nvSpPr>
        <p:spPr>
          <a:xfrm>
            <a:off x="619125" y="3351014"/>
            <a:ext cx="3580342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Las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tablas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Silver se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estructuran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físicamente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dentro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SQLite para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permitir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consultas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optimizadas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mediante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SQL </a:t>
            </a:r>
            <a:r>
              <a:rPr lang="en-US" sz="127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nativo</a:t>
            </a:r>
            <a:r>
              <a:rPr lang="en-US" sz="12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41" name="Google Shape;241;p19"/>
          <p:cNvSpPr txBox="1"/>
          <p:nvPr/>
        </p:nvSpPr>
        <p:spPr>
          <a:xfrm>
            <a:off x="1084792" y="4831555"/>
            <a:ext cx="3867150" cy="25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8 </a:t>
            </a:r>
            <a:r>
              <a:rPr lang="en-US" sz="1162" b="1" i="0" u="none" strike="noStrike" cap="none" dirty="0" err="1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tablas</a:t>
            </a:r>
            <a:r>
              <a:rPr lang="en-US" sz="1162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1" i="0" u="none" strike="noStrike" cap="none" dirty="0" err="1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instanciadas</a:t>
            </a:r>
            <a:r>
              <a:rPr lang="en-US" sz="1162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1" i="0" u="none" strike="noStrike" cap="none" dirty="0" err="1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correctamente</a:t>
            </a:r>
            <a:r>
              <a:rPr lang="en-US" sz="1162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42" name="Google Shape;242;p19"/>
          <p:cNvSpPr txBox="1"/>
          <p:nvPr/>
        </p:nvSpPr>
        <p:spPr>
          <a:xfrm>
            <a:off x="1084792" y="5432358"/>
            <a:ext cx="3867150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Estructuras</a:t>
            </a:r>
            <a:r>
              <a:rPr lang="en-US" sz="1162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optimizadas</a:t>
            </a:r>
            <a:r>
              <a:rPr lang="en-US" sz="1162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162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índices</a:t>
            </a:r>
            <a:r>
              <a:rPr lang="en-US" sz="1162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62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relacionales</a:t>
            </a:r>
            <a:r>
              <a:rPr lang="en-US" sz="1162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246" name="Google Shape;24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48589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5453789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9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Persistencia: Base de Datos en SQLite</a:t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3D348E2-935F-55EC-8D50-7D97D1B5FD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762" y="997959"/>
            <a:ext cx="7502675" cy="233936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52FEE8F-BBFF-9A69-4CC8-510C84C41A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3037" y="3429000"/>
            <a:ext cx="4421315" cy="31130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 txBox="1"/>
          <p:nvPr/>
        </p:nvSpPr>
        <p:spPr>
          <a:xfrm>
            <a:off x="619125" y="2667000"/>
            <a:ext cx="446055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Preparación de Datos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619125" y="3124200"/>
            <a:ext cx="42481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implementaron consultas que calculan agregaciones de negocio para que el reporte no sufra retrasos en el procesamiento.</a:t>
            </a:r>
            <a:endParaRPr/>
          </a:p>
        </p:txBody>
      </p:sp>
      <p:pic>
        <p:nvPicPr>
          <p:cNvPr id="261" name="Google Shape;26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4593431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1314450" y="4491037"/>
            <a:ext cx="3314700" cy="414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1E293B"/>
                </a:solidFill>
                <a:latin typeface="Lato Black"/>
                <a:ea typeface="Lato Black"/>
                <a:cs typeface="Lato Black"/>
                <a:sym typeface="Lato Black"/>
              </a:rPr>
              <a:t>Cómputo en BD:</a:t>
            </a:r>
            <a:r>
              <a:rPr lang="en-US" sz="1087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4 vistas SQL responden directamente las 3 preguntas clave del dashboard.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Capa Gold: Vistas lógicas optimizadas</a:t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406400-D77F-B37E-C125-ED946B4212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999" y="2722283"/>
            <a:ext cx="3920068" cy="389759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78AA69E-3E88-A80F-8DA0-397084624D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6354" y="1285875"/>
            <a:ext cx="3781425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1381125"/>
            <a:ext cx="109537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1133476"/>
            <a:ext cx="109347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" y="1724024"/>
            <a:ext cx="10934700" cy="4026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34725" y="600075"/>
            <a:ext cx="4381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4767" y="5926134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 txBox="1"/>
          <p:nvPr/>
        </p:nvSpPr>
        <p:spPr>
          <a:xfrm>
            <a:off x="1282700" y="5879304"/>
            <a:ext cx="64103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 PIB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muestra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contracción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marcada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2020 (pandemia) y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recuperación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sostenida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desde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2021.</a:t>
            </a:r>
            <a:endParaRPr dirty="0"/>
          </a:p>
        </p:txBody>
      </p:sp>
      <p:sp>
        <p:nvSpPr>
          <p:cNvPr id="283" name="Google Shape;283;p21"/>
          <p:cNvSpPr txBox="1"/>
          <p:nvPr/>
        </p:nvSpPr>
        <p:spPr>
          <a:xfrm>
            <a:off x="8745289" y="1485900"/>
            <a:ext cx="267518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Power BI - Page 1: Crecimiento PIB Real</a:t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771525" y="1504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923925" y="1504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1076325" y="1504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P1 — ¿Cómo evoluciona el PIB real de Ecuador?</a:t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5838FF2-8545-4F78-DD20-9DE32C377D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831" y="1063764"/>
            <a:ext cx="11054044" cy="56069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91875" y="600075"/>
            <a:ext cx="381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5753100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2"/>
          <p:cNvSpPr txBox="1"/>
          <p:nvPr/>
        </p:nvSpPr>
        <p:spPr>
          <a:xfrm>
            <a:off x="1209675" y="5750718"/>
            <a:ext cx="5076825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Guayas y Pichincha concentran la mayor cantidad de empresas activas del país.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3983889" y="1900238"/>
            <a:ext cx="267518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Power BI - Page 2: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Densidad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Corporativa</a:t>
            </a:r>
            <a:endParaRPr dirty="0"/>
          </a:p>
        </p:txBody>
      </p:sp>
      <p:sp>
        <p:nvSpPr>
          <p:cNvPr id="307" name="Google Shape;307;p22"/>
          <p:cNvSpPr/>
          <p:nvPr/>
        </p:nvSpPr>
        <p:spPr>
          <a:xfrm>
            <a:off x="4368779" y="1481799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4524904" y="1481799"/>
            <a:ext cx="95250" cy="952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4674658" y="1487091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P2 — ¿Cuántas empresas activas hay por provincia?</a:t>
            </a: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E69BE5-0FA2-F161-0F7C-DDE2BB3573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104900"/>
            <a:ext cx="10572750" cy="56325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49025" y="600075"/>
            <a:ext cx="3238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3"/>
          <p:cNvSpPr txBox="1"/>
          <p:nvPr/>
        </p:nvSpPr>
        <p:spPr>
          <a:xfrm>
            <a:off x="1209675" y="5750718"/>
            <a:ext cx="94869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Provincias con más bachilleres graduándose que empresas disponibles podrían necesitar más oferta de educación superior o emprendimiento local.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P3 — Bachilleres vs. Empresas por Provincia</a:t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94D6FC4-13C8-9B1B-786B-01F324C35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03" y="1028700"/>
            <a:ext cx="10505243" cy="56956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91875" y="600075"/>
            <a:ext cx="3810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4"/>
          <p:cNvSpPr txBox="1"/>
          <p:nvPr/>
        </p:nvSpPr>
        <p:spPr>
          <a:xfrm>
            <a:off x="1000125" y="2928937"/>
            <a:ext cx="10572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P1 - Evolución Económica: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El PIB muestra una contracción marcada en 2020 (pandemia) y recuperación sostenida desde 2021.</a:t>
            </a:r>
            <a:endParaRPr/>
          </a:p>
        </p:txBody>
      </p:sp>
      <p:sp>
        <p:nvSpPr>
          <p:cNvPr id="349" name="Google Shape;349;p24"/>
          <p:cNvSpPr txBox="1"/>
          <p:nvPr/>
        </p:nvSpPr>
        <p:spPr>
          <a:xfrm>
            <a:off x="1000125" y="3548062"/>
            <a:ext cx="10572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P2 - Concentración Geográfica: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Guayas y Pichincha concentran la mayor cantidad de empresas activas del país.</a:t>
            </a:r>
            <a:endParaRPr/>
          </a:p>
        </p:txBody>
      </p:sp>
      <p:sp>
        <p:nvSpPr>
          <p:cNvPr id="350" name="Google Shape;350;p24"/>
          <p:cNvSpPr txBox="1"/>
          <p:nvPr/>
        </p:nvSpPr>
        <p:spPr>
          <a:xfrm>
            <a:off x="1000125" y="4167187"/>
            <a:ext cx="10572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P3 - Foco de Oportunidad (UTPL):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62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Provincias con más bachilleres graduándose que empresas disponibles podrían necesitar más de la oferta de educación superior a distancia de la UTPL.</a:t>
            </a:r>
            <a:endParaRPr/>
          </a:p>
        </p:txBody>
      </p:sp>
      <p:pic>
        <p:nvPicPr>
          <p:cNvPr id="351" name="Google Shape;35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29527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35718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419100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4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Conclusiones Generales del Proyecto</a:t>
            </a:r>
            <a:endParaRPr/>
          </a:p>
        </p:txBody>
      </p:sp>
      <p:sp>
        <p:nvSpPr>
          <p:cNvPr id="355" name="Google Shape;355;p24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540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7775" y="2000250"/>
            <a:ext cx="20764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5"/>
          <p:cNvSpPr txBox="1"/>
          <p:nvPr/>
        </p:nvSpPr>
        <p:spPr>
          <a:xfrm>
            <a:off x="3365658" y="2466975"/>
            <a:ext cx="5460682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¡Muchas Gracias!</a:t>
            </a:r>
            <a:endParaRPr/>
          </a:p>
        </p:txBody>
      </p:sp>
      <p:sp>
        <p:nvSpPr>
          <p:cNvPr id="363" name="Google Shape;363;p25"/>
          <p:cNvSpPr/>
          <p:nvPr/>
        </p:nvSpPr>
        <p:spPr>
          <a:xfrm>
            <a:off x="5524500" y="345757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 txBox="1"/>
          <p:nvPr/>
        </p:nvSpPr>
        <p:spPr>
          <a:xfrm>
            <a:off x="5357812" y="3800475"/>
            <a:ext cx="14763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Pedro Vargas</a:t>
            </a:r>
            <a:endParaRPr/>
          </a:p>
        </p:txBody>
      </p:sp>
      <p:sp>
        <p:nvSpPr>
          <p:cNvPr id="365" name="Google Shape;365;p25"/>
          <p:cNvSpPr txBox="1"/>
          <p:nvPr/>
        </p:nvSpPr>
        <p:spPr>
          <a:xfrm>
            <a:off x="4686300" y="4219575"/>
            <a:ext cx="2819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Prácticum 1.2+ · Ingeniería de Datos · UTPL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6700836" y="4686300"/>
            <a:ext cx="6953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UTPL Julio 2026</a:t>
            </a:r>
            <a:endParaRPr dirty="0"/>
          </a:p>
        </p:txBody>
      </p:sp>
      <p:pic>
        <p:nvPicPr>
          <p:cNvPr id="367" name="Google Shape;36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95837" y="470535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77012" y="4705350"/>
            <a:ext cx="1238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36195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6"/>
          <p:cNvSpPr txBox="1"/>
          <p:nvPr/>
        </p:nvSpPr>
        <p:spPr>
          <a:xfrm>
            <a:off x="1714500" y="3626643"/>
            <a:ext cx="98583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https://www.rbc.com/en/economics/wp-content/uploads/sites/23/2026/01/TB5.png?quality=80</a:t>
            </a:r>
            <a:endParaRPr/>
          </a:p>
        </p:txBody>
      </p:sp>
      <p:sp>
        <p:nvSpPr>
          <p:cNvPr id="376" name="Google Shape;376;p26"/>
          <p:cNvSpPr txBox="1"/>
          <p:nvPr/>
        </p:nvSpPr>
        <p:spPr>
          <a:xfrm>
            <a:off x="1714500" y="3860006"/>
            <a:ext cx="9858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www.rbc.com</a:t>
            </a:r>
            <a:endParaRPr/>
          </a:p>
        </p:txBody>
      </p:sp>
      <p:sp>
        <p:nvSpPr>
          <p:cNvPr id="377" name="Google Shape;377;p26"/>
          <p:cNvSpPr txBox="1"/>
          <p:nvPr/>
        </p:nvSpPr>
        <p:spPr>
          <a:xfrm>
            <a:off x="619125" y="523875"/>
            <a:ext cx="115014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378" name="Google Shape;378;p26"/>
          <p:cNvSpPr/>
          <p:nvPr/>
        </p:nvSpPr>
        <p:spPr>
          <a:xfrm>
            <a:off x="619125" y="1123950"/>
            <a:ext cx="10953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727</Words>
  <Application>Microsoft Office PowerPoint</Application>
  <PresentationFormat>Panorámica</PresentationFormat>
  <Paragraphs>72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Poppins SemiBold</vt:lpstr>
      <vt:lpstr>Arial</vt:lpstr>
      <vt:lpstr>Poppins</vt:lpstr>
      <vt:lpstr>Calibri</vt:lpstr>
      <vt:lpstr>Lato Black</vt:lpstr>
      <vt:lpstr>Lato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Pedro VR</dc:creator>
  <cp:lastModifiedBy>Pedro Antonio Vargas Ruiz</cp:lastModifiedBy>
  <cp:revision>4</cp:revision>
  <dcterms:modified xsi:type="dcterms:W3CDTF">2026-07-10T19:45:25Z</dcterms:modified>
</cp:coreProperties>
</file>
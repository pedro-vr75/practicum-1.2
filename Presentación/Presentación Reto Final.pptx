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8" r:id="rId5"/>
    <p:sldId id="263" r:id="rId6"/>
    <p:sldId id="259" r:id="rId7"/>
    <p:sldId id="260" r:id="rId8"/>
    <p:sldId id="267" r:id="rId9"/>
    <p:sldId id="261" r:id="rId10"/>
    <p:sldId id="265" r:id="rId11"/>
    <p:sldId id="266" r:id="rId12"/>
    <p:sldId id="262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1942207"/>
            <a:ext cx="90011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4B8A6"/>
                </a:solidFill>
                <a:latin typeface="Poppins"/>
              </a:rPr>
              <a:t>ESTRATEGIA DE DATOS &amp;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5437" y="2332732"/>
            <a:ext cx="9001125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FFFFFF"/>
                </a:solidFill>
                <a:latin typeface="Poppins"/>
              </a:rPr>
              <a:t>Decisiones de Limpieza y Vistas Gold en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44217"/>
            <a:ext cx="7143750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Arquitectura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del pipeline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automatizado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: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Desde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datos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crudos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cargados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por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RPA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en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8667" y="4734817"/>
            <a:ext cx="5581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CBD5E1"/>
                </a:solidFill>
                <a:latin typeface="Inter"/>
              </a:rPr>
              <a:t> Oracle DB (Bronze → Silver → Gold)  Python &amp; pandas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75" y="4753867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958" y="4778571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97623"/>
            <a:ext cx="10668000" cy="5180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95537"/>
            <a:ext cx="2667000" cy="19258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2395537"/>
            <a:ext cx="2667000" cy="19258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2395537"/>
            <a:ext cx="2667000" cy="1925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950023"/>
            <a:ext cx="10363200" cy="2132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Este flujo garantiza el aislamiento de capas de datos cumpliendo con las mejores prácticas de </a:t>
            </a:r>
            <a:r>
              <a:rPr sz="1050" b="0" i="0" u="none">
                <a:solidFill>
                  <a:srgbClr val="0F172A"/>
                </a:solidFill>
                <a:latin typeface="Inter SemiBold"/>
              </a:rPr>
              <a:t>Data Warehousing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357" y="2643187"/>
            <a:ext cx="2280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CARGA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357" y="2919412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Bronze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281362"/>
            <a:ext cx="21717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0F172A"/>
                </a:solidFill>
                <a:latin typeface="Inter SemiBold"/>
              </a:rPr>
              <a:t>Oracle (TAB_CONSOLIDADO)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Datos crudos cargados por RPA. Almacena 14 indicadores en formato JSON crudo.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400" y="3225105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5857" y="2643187"/>
            <a:ext cx="2280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PROCESAMIENTO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5857" y="2919412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Silver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150" y="3281362"/>
            <a:ext cx="21717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0F172A"/>
                </a:solidFill>
                <a:latin typeface="Inter SemiBold"/>
              </a:rPr>
              <a:t>Python / pandas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Lectura, parseo de JSON y limpieza profunda de nulos, duplicados y formatos.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00" y="3225105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6357" y="2643187"/>
            <a:ext cx="2280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CONSOLIDACIÓN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6357" y="2919412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Gold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0650" y="3281362"/>
            <a:ext cx="21717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0F172A"/>
                </a:solidFill>
                <a:latin typeface="Inter SemiBold"/>
              </a:rPr>
              <a:t>Oracle Views ➔ Power BI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6 vistas Gold optimizadas, listas para consumo directo desde reportes analíticos.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300" y="4988123"/>
            <a:ext cx="13335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Flujo Completo de Ingesta y Transformación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571500"/>
            <a:ext cx="800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SECCIÓN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5500" y="885825"/>
            <a:ext cx="80010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C" sz="3900" b="1" i="0" u="none" dirty="0">
                <a:solidFill>
                  <a:srgbClr val="0F172A"/>
                </a:solidFill>
                <a:latin typeface="Poppins"/>
              </a:rPr>
              <a:t>Inserción de datos</a:t>
            </a:r>
            <a:endParaRPr sz="39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24500" y="1857375"/>
            <a:ext cx="1143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6671C79-BA3C-AF5A-75B0-04852F88D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22" y="2976529"/>
            <a:ext cx="11027096" cy="76206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57AB85F-0FBD-680F-02E8-BF421B11D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07" y="2119279"/>
            <a:ext cx="11202371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319A1D-518B-5B96-D0FB-5E1721BCA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5" y="2055262"/>
            <a:ext cx="11179509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571500"/>
            <a:ext cx="800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SECCIÓN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899" y="771525"/>
            <a:ext cx="80010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C" sz="3900" b="1" i="0" u="none" dirty="0" err="1">
                <a:solidFill>
                  <a:srgbClr val="0F172A"/>
                </a:solidFill>
                <a:latin typeface="Poppins"/>
              </a:rPr>
              <a:t>Insercción</a:t>
            </a:r>
            <a:r>
              <a:rPr lang="es-EC" sz="3900" b="1" i="0" u="none" dirty="0">
                <a:solidFill>
                  <a:srgbClr val="0F172A"/>
                </a:solidFill>
                <a:latin typeface="Poppins"/>
              </a:rPr>
              <a:t> de RPA</a:t>
            </a:r>
            <a:endParaRPr sz="39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24500" y="2600325"/>
            <a:ext cx="1143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728AD33-6A23-8FB2-503F-564E1F014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234" y="1543050"/>
            <a:ext cx="8119532" cy="4389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34380"/>
            <a:ext cx="3403550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234380"/>
            <a:ext cx="3403550" cy="2362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300" y="1234380"/>
            <a:ext cx="3403550" cy="2362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7275" y="2101155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Conexión &amp; Orquestación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2501205"/>
            <a:ext cx="281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Inter SemiBold"/>
              </a:rPr>
              <a:t>db.py &amp; load.py:</a:t>
            </a:r>
            <a:r>
              <a:t>
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 Administración de la conexión a Oracle en modo Thin. Orquesta la extracción, limpia tablas, inserta por lotes y recrea vistas.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9425" y="2101155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Módulos de Limpieza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9425" y="2501205"/>
            <a:ext cx="281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Inter SemiBold"/>
              </a:rPr>
              <a:t>transform/ (*.py):</a:t>
            </a:r>
            <a:r>
              <a:t>
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 Limpieza específica por dominio: BCE (PIB, petróleo), Censo (empleo), Mineduc (colegios) y Supercias (empresas).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575" y="2101155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Modelado Relacional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575" y="2501205"/>
            <a:ext cx="281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Inter SemiBold"/>
              </a:rPr>
              <a:t>sql/gold_views.sql:</a:t>
            </a:r>
            <a:r>
              <a:t>
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 Definiciones SQL nativas para generar las vistas agregadas y de negocio de la capa Gold.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1567755"/>
            <a:ext cx="25717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425" y="1567755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575" y="1567755"/>
            <a:ext cx="3048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Estructura Modular del Proyecto 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7471BA9-BCE4-BCD9-4A10-4561C6AFD4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4256" y="3673507"/>
            <a:ext cx="9101667" cy="2940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900" y="2309366"/>
            <a:ext cx="48006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Identificación del Comportamiento: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 identificaron nulos legítimos provenientes de la fuente original en series de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3276748"/>
            <a:ext cx="48006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PIB Nominal e Real: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El primer año de la serie del PIB contiene un valor de tasa_variacion_anual nulo debido a la falta de año de comparación anterior.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342703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310086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lang="es-EC" sz="2850" b="1" i="0" u="none" dirty="0">
                <a:solidFill>
                  <a:srgbClr val="0F172A"/>
                </a:solidFill>
                <a:latin typeface="Poppins"/>
              </a:rPr>
              <a:t>Limpieza</a:t>
            </a:r>
            <a:endParaRPr sz="28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737083E-5146-9C96-A3D4-42360059F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5015"/>
            <a:ext cx="7563908" cy="210769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B40D155-A3AC-75C8-563F-72E0C1230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057" y="1088909"/>
            <a:ext cx="5533943" cy="4442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7D24B72-F79C-5E76-FC74-C8F734CAB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850280"/>
            <a:ext cx="10411838" cy="26539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1F177F-F270-0B33-76C3-A68B147D9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166" y="3429000"/>
            <a:ext cx="9837905" cy="331231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0419F19-CA86-7C22-36E5-AF5A4BA54BCF}"/>
              </a:ext>
            </a:extLst>
          </p:cNvPr>
          <p:cNvSpPr txBox="1"/>
          <p:nvPr/>
        </p:nvSpPr>
        <p:spPr>
          <a:xfrm>
            <a:off x="1459148" y="311445"/>
            <a:ext cx="49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/>
              <a:t>Comprobación de datos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53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lang="es-EC" sz="2850" b="1" i="0" u="none" dirty="0">
                <a:solidFill>
                  <a:srgbClr val="0F172A"/>
                </a:solidFill>
                <a:latin typeface="Poppins"/>
              </a:rPr>
              <a:t>Carga a </a:t>
            </a:r>
            <a:r>
              <a:rPr lang="es-EC" sz="2850" b="1" dirty="0">
                <a:solidFill>
                  <a:srgbClr val="0F172A"/>
                </a:solidFill>
                <a:latin typeface="Poppins"/>
              </a:rPr>
              <a:t>SQLite</a:t>
            </a:r>
            <a:endParaRPr sz="28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532BA80-8E87-99BC-C0F4-13C2E9139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93" y="1091660"/>
            <a:ext cx="9676762" cy="56804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63279"/>
            <a:ext cx="5143500" cy="2194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3044279"/>
            <a:ext cx="4381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14B8A6"/>
                </a:solidFill>
                <a:latin typeface="Poppins"/>
              </a:rPr>
              <a:t>1.67M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06279"/>
            <a:ext cx="438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Inter"/>
              </a:rPr>
              <a:t>FILAS PROCESADAS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20604"/>
            <a:ext cx="4381500" cy="355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Volumen de datos correspondiente a la tabla más pesada: SILVER_SUPERCIAS_RANKING.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348061"/>
            <a:ext cx="5400675" cy="27622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Carga por Lotes Optimizada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776686"/>
            <a:ext cx="5143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Para evitar demoras excesivas, el cargador de load.py utiliza inserciones masivas parametrizadas con la interfaz eficiente executemany() de Python-oracledb.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95686"/>
            <a:ext cx="152400" cy="1782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Estrategia de Carga Masiva (High Performance)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32049"/>
            <a:ext cx="10668000" cy="42567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1525" y="1641574"/>
            <a:ext cx="10648950" cy="423773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1525" y="1641574"/>
          <a:ext cx="10648948" cy="4237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4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Nombre de la Vista Gold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Área Temática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Objetivo Analítico / Pregunta de Negocio que Resuelve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GOLD_PIB_TENDENCIA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Macroeconomía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Evolución histórica de la tendencia de producción y clasificación del ciclo económico.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GOLD_PETROLEO_30DIAS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Commodities / Riesgo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Monitoreo diario del precio del barril de petróleo y su correlación con el Riesgo País.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GOLD_EMPRESAS_PROVINCIA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Corporativo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Densidad de empresas activas de la Supercias distribuidas a nivel nacional y provincial.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GOLD_BACHILLERES_VS_EMPRESAS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Educación / Empleo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Relación de talento joven disponible frente a la demanda y creación de empresas locales.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29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GOLD_EMPLEO_TENDENCIA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Mercado Laboral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Nueva tendencia de la población laboral urbana y rural basada en datos de ENEMDU.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2901553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66120" y="2901553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51" y="2901553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1525" y="3642419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66120" y="3642419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5851" y="3642419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1525" y="4383285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66120" y="4383285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5851" y="4383285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5" y="5124152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66120" y="5124152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5851" y="5124152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525" y="5865018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66120" y="5865018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5851" y="5865018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Capa Gold: Vistas Optimizadas para Power 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lang="es-EC" sz="2850" b="1" i="0" u="none" dirty="0" err="1">
                <a:solidFill>
                  <a:srgbClr val="0F172A"/>
                </a:solidFill>
                <a:latin typeface="Poppins"/>
              </a:rPr>
              <a:t>Power</a:t>
            </a:r>
            <a:r>
              <a:rPr lang="es-EC" sz="2850" b="1" i="0" u="none" dirty="0">
                <a:solidFill>
                  <a:srgbClr val="0F172A"/>
                </a:solidFill>
                <a:latin typeface="Poppins"/>
              </a:rPr>
              <a:t> BI</a:t>
            </a:r>
            <a:endParaRPr sz="28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2B463D9-7593-1563-EF6C-2867B7BAE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518" y="1315899"/>
            <a:ext cx="9099542" cy="50976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552D9-3CBC-9B00-9CDE-4CBE08C8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1CA0D54-B0FF-34B3-1B42-454B0F60C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0A27F0-9947-678B-920C-8A779F7C7DA2}"/>
              </a:ext>
            </a:extLst>
          </p:cNvPr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lang="es-EC" sz="2850" b="1" i="0" u="none" dirty="0" err="1">
                <a:solidFill>
                  <a:srgbClr val="0F172A"/>
                </a:solidFill>
                <a:latin typeface="Poppins"/>
              </a:rPr>
              <a:t>Power</a:t>
            </a:r>
            <a:r>
              <a:rPr lang="es-EC" sz="2850" b="1" i="0" u="none" dirty="0">
                <a:solidFill>
                  <a:srgbClr val="0F172A"/>
                </a:solidFill>
                <a:latin typeface="Poppins"/>
              </a:rPr>
              <a:t> BI</a:t>
            </a:r>
            <a:endParaRPr sz="28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9A43C-8995-4DB6-E396-71CB2123284E}"/>
              </a:ext>
            </a:extLst>
          </p:cNvPr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589E77-6E1E-0A89-0203-1643F5B9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809" y="1170596"/>
            <a:ext cx="8550381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06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E1D95-CF93-69DD-32B1-0FEDE9315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10C3E3A-55BF-0AB1-FEE8-E81690A24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B88DDE-F6DA-E9FC-B141-AA81CB0BDDAA}"/>
              </a:ext>
            </a:extLst>
          </p:cNvPr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lang="es-EC" sz="2850" b="1" i="0" u="none" dirty="0" err="1">
                <a:solidFill>
                  <a:srgbClr val="0F172A"/>
                </a:solidFill>
                <a:latin typeface="Poppins"/>
              </a:rPr>
              <a:t>Power</a:t>
            </a:r>
            <a:r>
              <a:rPr lang="es-EC" sz="2850" b="1" i="0" u="none" dirty="0">
                <a:solidFill>
                  <a:srgbClr val="0F172A"/>
                </a:solidFill>
                <a:latin typeface="Poppins"/>
              </a:rPr>
              <a:t> BI</a:t>
            </a:r>
            <a:endParaRPr sz="28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7384D-DC65-7DE5-558C-086814EE60F6}"/>
              </a:ext>
            </a:extLst>
          </p:cNvPr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612C43C-976B-8EC3-49AE-31538E50E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067" y="1470243"/>
            <a:ext cx="8542760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9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502</Words>
  <Application>Microsoft Office PowerPoint</Application>
  <PresentationFormat>Panorámica</PresentationFormat>
  <Paragraphs>59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Pedro VR</dc:creator>
  <cp:keywords/>
  <dc:description>generated using python-pptx</dc:description>
  <cp:lastModifiedBy>Pedro Antonio Vargas Ruiz</cp:lastModifiedBy>
  <cp:revision>5</cp:revision>
  <dcterms:created xsi:type="dcterms:W3CDTF">2013-01-27T09:14:16Z</dcterms:created>
  <dcterms:modified xsi:type="dcterms:W3CDTF">2026-07-21T21:26:18Z</dcterms:modified>
  <cp:category/>
</cp:coreProperties>
</file>
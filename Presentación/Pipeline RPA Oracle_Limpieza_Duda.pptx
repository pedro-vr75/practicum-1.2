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1942207"/>
            <a:ext cx="90011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4B8A6"/>
                </a:solidFill>
                <a:latin typeface="Poppins"/>
              </a:rPr>
              <a:t>ESTRATEGIA DE DATOS &amp;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437" y="2332732"/>
            <a:ext cx="900112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FFFFFF"/>
                </a:solidFill>
                <a:latin typeface="Poppins"/>
              </a:rPr>
              <a:t>Decisiones de Limpieza y Vistas Gold en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44217"/>
            <a:ext cx="7143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Arquitectura del pipeline automatizado: Desde datos crudos cargados por RPA en Oracle hasta vistas analíticas optimizadas con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8667" y="4734817"/>
            <a:ext cx="55816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>
                <a:solidFill>
                  <a:srgbClr val="CBD5E1"/>
                </a:solidFill>
                <a:latin typeface="Inter"/>
              </a:rPr>
              <a:t> Oracle DB (Bronze → Silver → Gold)  Python &amp; pandas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75" y="4753867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958" y="4778571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571500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SECCIÓN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5500" y="885825"/>
            <a:ext cx="8001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Arquitectura 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1857375"/>
            <a:ext cx="1143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124075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Estructura del flujo de datos end-to-end diseñado para ingerir, validar, limpiar y modelar información corporativa crucial de 14 indicadores clave.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97623"/>
            <a:ext cx="10668000" cy="5180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95537"/>
            <a:ext cx="2667000" cy="19258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2395537"/>
            <a:ext cx="2667000" cy="19258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2395537"/>
            <a:ext cx="2667000" cy="19258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50023"/>
            <a:ext cx="10363200" cy="21327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Este flujo garantiza el aislamiento de capas de datos cumpliendo con las mejores prácticas de </a:t>
            </a:r>
            <a:r>
              <a:rPr sz="1050" b="0" i="0" u="none">
                <a:solidFill>
                  <a:srgbClr val="0F172A"/>
                </a:solidFill>
                <a:latin typeface="Inter SemiBold"/>
              </a:rPr>
              <a:t>Data Warehousing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3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CARGA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3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Bronze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Oracle (TAB_CONSOLIDADO)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Datos crudos cargados por RPA. Almacena 14 indicadores en formato JSON crudo.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0" y="3225105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58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PROCESAMIENTO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58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Silver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1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Python / pandas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Lectura, parseo de JSON y limpieza profunda de nulos, duplicados y formatos.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00" y="3225105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6357" y="2643187"/>
            <a:ext cx="228028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CONSOLIDACIÓN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357" y="2919412"/>
            <a:ext cx="22802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oppins"/>
              </a:rPr>
              <a:t>Gold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0650" y="3281362"/>
            <a:ext cx="21717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0" u="none">
                <a:solidFill>
                  <a:srgbClr val="0F172A"/>
                </a:solidFill>
                <a:latin typeface="Inter SemiBold"/>
              </a:rPr>
              <a:t>Oracle Views ➔ Power BI</a:t>
            </a:r>
            <a:r>
              <a:t>
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6 vistas Gold optimizadas, listas para consumo directo desde reportes analíticos.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300" y="4988123"/>
            <a:ext cx="133350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Flujo Completo de Ingesta y Transformación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34380"/>
            <a:ext cx="340355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1234380"/>
            <a:ext cx="34035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0" y="1234380"/>
            <a:ext cx="3403550" cy="2362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Conexión &amp; Orquestación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db.py &amp; load.py: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Administración de la conexión a Oracle en modo Thin. Orquesta la extracción, limpia tablas, inserta por lotes y recrea vistas.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942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Módulos de 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42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transform/ (*.py):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Limpieza específica por dominio: BCE (PIB, petróleo), Censo (empleo), Mineduc (colegios) y Supercias (empresas).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575" y="2101155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Modelado Relacional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575" y="2501205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F172A"/>
                </a:solidFill>
                <a:latin typeface="Inter SemiBold"/>
              </a:rPr>
              <a:t>sql/gold_views.sql: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Inter"/>
              </a:rPr>
              <a:t> Definiciones SQL nativas para generar las vistas agregadas y de negocio de la capa Gold.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1567755"/>
            <a:ext cx="2571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25" y="156775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575" y="1567755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Estructura Modular del Proyecto 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0690"/>
            <a:ext cx="5143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900" y="2309366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Identificación del Comportamiento: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 identificaron nulos legítimos provenientes de la fuente original en series de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3276748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PIB Nominal e Real: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El primer año de la serie del PIB contiene un valor de tasa_variacion_anual nulo debido a la falta de año de comparación anterior.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4244131"/>
            <a:ext cx="48006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Políticas Aplicadas: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Los nulos se preservan y documentan para Power BI. </a:t>
            </a:r>
            <a:r>
              <a:rPr sz="1275" b="0" i="0" u="none">
                <a:solidFill>
                  <a:srgbClr val="0F172A"/>
                </a:solidFill>
                <a:latin typeface="Inter SemiBold"/>
              </a:rPr>
              <a:t>No se imputan, no se inventan, ni se eliminan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para evitar sesgar el análisis.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42703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310086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277469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Regla 1: Gestión de Nulos Reales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74577"/>
            <a:ext cx="34035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50" y="2574577"/>
            <a:ext cx="3403550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300" y="2574577"/>
            <a:ext cx="3403550" cy="2371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7275" y="3441352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Llaves Naturales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275" y="3841402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Uso estricto de claves naturales para evaluar duplicidad: Fecha para series temporales, RUC para empresas, Expediente + Año para el ranking corporativo.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9425" y="3441352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Módulo Común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425" y="3841402"/>
            <a:ext cx="281300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Implementación de la función centralizada drop_duplicates_report() que audita y reporta los registros repetidos eliminados en tiempo de ejecución.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575" y="3441352"/>
            <a:ext cx="2953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Integridad Referencial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575" y="3841402"/>
            <a:ext cx="2813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Asegura que cada tabla Silver conserve una única fila representativa por entidad, evitando la duplicación de métricas financieras y demográficas.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90795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9425" y="2907952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575" y="2907952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Regla 2: Eliminación Estratégica de Duplicados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2697807"/>
            <a:ext cx="9182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Fechas Uniformes: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Conversión estricta de cadenas de texto y formatos variados a formato estándar ISO AAAA-MM-DD mediante pd.to_datetime().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6400" y="3406229"/>
            <a:ext cx="9182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Coerción Numérica Segura: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Implementación de la función personalizada to_numeric_safe() que fuerza valores erróneos, strings vacíos o caracteres inválidos a nulos lógicos (Float/Int).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4114651"/>
            <a:ext cx="9182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Normalización de Texto: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Aplicación del procesador centralizado clean_text() encargado de eliminar espacios en blanco adicionales (Trim), convertir strings a MAYÚSCULAS y colapsar espacios internos redundantes.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731144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39566"/>
            <a:ext cx="1619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147988"/>
            <a:ext cx="1714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Regla 3: Estandarización de Formatos de 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571500"/>
            <a:ext cx="800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oppins"/>
              </a:rPr>
              <a:t>SECCIÓN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899" y="771525"/>
            <a:ext cx="8001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C" sz="3900" b="1" i="0" u="none" dirty="0" err="1">
                <a:solidFill>
                  <a:srgbClr val="0F172A"/>
                </a:solidFill>
                <a:latin typeface="Poppins"/>
              </a:rPr>
              <a:t>Insercción</a:t>
            </a:r>
            <a:r>
              <a:rPr lang="es-EC" sz="3900" b="1" i="0" u="none" dirty="0">
                <a:solidFill>
                  <a:srgbClr val="0F172A"/>
                </a:solidFill>
                <a:latin typeface="Poppins"/>
              </a:rPr>
              <a:t> de RPA</a:t>
            </a:r>
            <a:endParaRPr sz="39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24500" y="2600325"/>
            <a:ext cx="1143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728AD33-6A23-8FB2-503F-564E1F014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867" y="2182628"/>
            <a:ext cx="8119532" cy="43896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0690"/>
            <a:ext cx="51435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173783"/>
            <a:ext cx="5400675" cy="276225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E11D48"/>
                </a:solidFill>
                <a:latin typeface="Poppins"/>
              </a:rPr>
              <a:t>Corrupción de Nombres en INEC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02408"/>
            <a:ext cx="51435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El indicador INEC_ENEMDU_POBLACIONES importaba caracteres corruptos (ej.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"Poblacin Total"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) debido a la omisión de la configuración del set de caracteres adecuado durante la carga de SQL*Plus original.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806130"/>
            <a:ext cx="5400675" cy="276225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D9488"/>
                </a:solidFill>
                <a:latin typeface="Poppins"/>
              </a:rPr>
              <a:t>Acción Correctiva Aplicada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34755"/>
            <a:ext cx="5143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La solución definitiva requiere forzar la variable de entorno del cliente SQL*Plus previa a la carga con la configuración de idioma y encoding regional adecuada para UTF-8: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21408"/>
            <a:ext cx="180975" cy="17829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53755"/>
            <a:ext cx="180975" cy="17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Bug de Codificación Detectado &amp; Solucionado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41CA86B-CA56-A1F2-BE9E-1901BE020680}"/>
              </a:ext>
            </a:extLst>
          </p:cNvPr>
          <p:cNvSpPr txBox="1"/>
          <p:nvPr/>
        </p:nvSpPr>
        <p:spPr>
          <a:xfrm>
            <a:off x="8280400" y="3068925"/>
            <a:ext cx="1676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63279"/>
            <a:ext cx="5143500" cy="21943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660427"/>
            <a:ext cx="5143500" cy="1512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3044279"/>
            <a:ext cx="4381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14B8A6"/>
                </a:solidFill>
                <a:latin typeface="Poppins"/>
              </a:rPr>
              <a:t>1.67M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06279"/>
            <a:ext cx="438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CBD5E1"/>
                </a:solidFill>
                <a:latin typeface="Inter"/>
              </a:rPr>
              <a:t>FILAS PROCESADAS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20604"/>
            <a:ext cx="4381500" cy="355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Volumen de datos correspondiente a la tabla más pesada: SILVER_SUPERCIAS_RANKING.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348061"/>
            <a:ext cx="5400675" cy="27622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Carga por Lotes Optimizada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776686"/>
            <a:ext cx="5143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Para evitar demoras excesivas, el cargador de load.py utiliza inserciones masivas parametrizadas con la interfaz eficiente executemany() de Python-oracledb.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395686"/>
            <a:ext cx="152400" cy="17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6525" y="3860452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0F172A"/>
                </a:solidFill>
                <a:latin typeface="Inter SemiBold"/>
              </a:rPr>
              <a:t>Ajuste de Lotes Inteligente: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165252"/>
            <a:ext cx="4743450" cy="24378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F172A"/>
                </a:solidFill>
                <a:latin typeface="Inter SemiBold"/>
              </a:rPr>
              <a:t>Batch Size Base: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Configurado en 5,000 registros por lote.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485233"/>
            <a:ext cx="4743450" cy="48756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F172A"/>
                </a:solidFill>
                <a:latin typeface="Inter SemiBold"/>
              </a:rPr>
              <a:t>Recomendación Pro: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Incrementar a 10,000 o 20,000 para optimizar la latencia de red.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20335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523333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Estrategia de Carga Masiva (High Performance)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32049"/>
            <a:ext cx="10668000" cy="42567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1525" y="1641574"/>
            <a:ext cx="10648950" cy="423773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1525" y="1641574"/>
          <a:ext cx="10648948" cy="423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4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Nombre de la Vista Gold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Área Temática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Objetivo Analítico / Pregunta de Negocio que Resuelve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GOLD_PIB_TENDENCIA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Macroeconomía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Evolución histórica de la tendencia de producción y clasificación del ciclo económico.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GOLD_PETROLEO_30DIAS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Commodities / Riesgo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Monitoreo diario del precio del barril de petróleo y su correlación con el Riesgo País.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GOLD_EMPRESAS_PROVINCIA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Corporativo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Densidad de empresas activas de la Supercias distribuidas a nivel nacional y provincial.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2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GOLD_BACHILLERES_VS_EMPRESAS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Educación / Empleo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Relación de talento joven disponible frente a la demanda y creación de empresas locales.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29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GOLD_EMPLEO_TENDENCIA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Mercado Laboral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Nueva tendencia de la población laboral urbana y rural basada en datos de ENEMDU.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1525" y="2901553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66120" y="2901553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51" y="2901553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642419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66120" y="3642419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5851" y="3642419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1525" y="4383285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66120" y="4383285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5851" y="4383285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5" y="5124152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66120" y="5124152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5851" y="5124152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525" y="5865018"/>
            <a:ext cx="31945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66120" y="5865018"/>
            <a:ext cx="21297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851" y="5865018"/>
            <a:ext cx="53246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"/>
            <a:ext cx="11041380" cy="434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0F172A"/>
                </a:solidFill>
                <a:latin typeface="Poppins"/>
              </a:rPr>
              <a:t>Capa Gold: Vistas Optimizadas para Power 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571500"/>
            <a:ext cx="57150" cy="434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852</Words>
  <Application>Microsoft Office PowerPoint</Application>
  <PresentationFormat>Panorámica</PresentationFormat>
  <Paragraphs>76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 VR</dc:creator>
  <cp:keywords/>
  <dc:description>generated using python-pptx</dc:description>
  <cp:lastModifiedBy>Pedro Antonio Vargas Ruiz</cp:lastModifiedBy>
  <cp:revision>2</cp:revision>
  <dcterms:created xsi:type="dcterms:W3CDTF">2013-01-27T09:14:16Z</dcterms:created>
  <dcterms:modified xsi:type="dcterms:W3CDTF">2026-07-17T20:35:04Z</dcterms:modified>
  <cp:category/>
</cp:coreProperties>
</file>
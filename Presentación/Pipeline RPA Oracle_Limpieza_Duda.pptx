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7" r:id="rId4"/>
    <p:sldId id="263" r:id="rId5"/>
    <p:sldId id="259" r:id="rId6"/>
    <p:sldId id="260" r:id="rId7"/>
    <p:sldId id="261" r:id="rId8"/>
    <p:sldId id="262" r:id="rId9"/>
    <p:sldId id="267" r:id="rId10"/>
    <p:sldId id="264" r:id="rId11"/>
    <p:sldId id="268" r:id="rId12"/>
    <p:sldId id="265" r:id="rId13"/>
    <p:sldId id="266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9" d="100"/>
          <a:sy n="79" d="100"/>
        </p:scale>
        <p:origin x="101" y="32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95437" y="1942207"/>
            <a:ext cx="9001125" cy="238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14B8A6"/>
                </a:solidFill>
                <a:latin typeface="Poppins"/>
              </a:rPr>
              <a:t>ESTRATEGIA DE DATOS &amp; BI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95437" y="2332732"/>
            <a:ext cx="9001125" cy="118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657"/>
              </a:lnSpc>
            </a:pPr>
            <a:r>
              <a:rPr sz="4050" b="1" i="0" u="none">
                <a:solidFill>
                  <a:srgbClr val="FFFFFF"/>
                </a:solidFill>
                <a:latin typeface="Poppins"/>
              </a:rPr>
              <a:t>Decisiones de Limpieza y Vistas Gold en Power BI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24125" y="3744217"/>
            <a:ext cx="7143750" cy="281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sz="1500" b="0" i="0" u="none" dirty="0" err="1">
                <a:solidFill>
                  <a:srgbClr val="94A3B8"/>
                </a:solidFill>
                <a:latin typeface="Inter"/>
              </a:rPr>
              <a:t>Arquitectura</a:t>
            </a:r>
            <a:r>
              <a:rPr sz="1500" b="0" i="0" u="none" dirty="0">
                <a:solidFill>
                  <a:srgbClr val="94A3B8"/>
                </a:solidFill>
                <a:latin typeface="Inter"/>
              </a:rPr>
              <a:t> del pipeline </a:t>
            </a:r>
            <a:r>
              <a:rPr sz="1500" b="0" i="0" u="none" dirty="0" err="1">
                <a:solidFill>
                  <a:srgbClr val="94A3B8"/>
                </a:solidFill>
                <a:latin typeface="Inter"/>
              </a:rPr>
              <a:t>automatizado</a:t>
            </a:r>
            <a:r>
              <a:rPr sz="1500" b="0" i="0" u="none" dirty="0">
                <a:solidFill>
                  <a:srgbClr val="94A3B8"/>
                </a:solidFill>
                <a:latin typeface="Inter"/>
              </a:rPr>
              <a:t>: </a:t>
            </a:r>
            <a:r>
              <a:rPr sz="1500" b="0" i="0" u="none" dirty="0" err="1">
                <a:solidFill>
                  <a:srgbClr val="94A3B8"/>
                </a:solidFill>
                <a:latin typeface="Inter"/>
              </a:rPr>
              <a:t>Desde</a:t>
            </a:r>
            <a:r>
              <a:rPr sz="1500" b="0" i="0" u="none" dirty="0">
                <a:solidFill>
                  <a:srgbClr val="94A3B8"/>
                </a:solidFill>
                <a:latin typeface="Inter"/>
              </a:rPr>
              <a:t> </a:t>
            </a:r>
            <a:r>
              <a:rPr sz="1500" b="0" i="0" u="none" dirty="0" err="1">
                <a:solidFill>
                  <a:srgbClr val="94A3B8"/>
                </a:solidFill>
                <a:latin typeface="Inter"/>
              </a:rPr>
              <a:t>datos</a:t>
            </a:r>
            <a:r>
              <a:rPr sz="1500" b="0" i="0" u="none" dirty="0">
                <a:solidFill>
                  <a:srgbClr val="94A3B8"/>
                </a:solidFill>
                <a:latin typeface="Inter"/>
              </a:rPr>
              <a:t> crudos </a:t>
            </a:r>
            <a:r>
              <a:rPr sz="1500" b="0" i="0" u="none" dirty="0" err="1">
                <a:solidFill>
                  <a:srgbClr val="94A3B8"/>
                </a:solidFill>
                <a:latin typeface="Inter"/>
              </a:rPr>
              <a:t>cargados</a:t>
            </a:r>
            <a:r>
              <a:rPr sz="1500" b="0" i="0" u="none" dirty="0">
                <a:solidFill>
                  <a:srgbClr val="94A3B8"/>
                </a:solidFill>
                <a:latin typeface="Inter"/>
              </a:rPr>
              <a:t> </a:t>
            </a:r>
            <a:r>
              <a:rPr sz="1500" b="0" i="0" u="none" dirty="0" err="1">
                <a:solidFill>
                  <a:srgbClr val="94A3B8"/>
                </a:solidFill>
                <a:latin typeface="Inter"/>
              </a:rPr>
              <a:t>por</a:t>
            </a:r>
            <a:r>
              <a:rPr sz="1500" b="0" i="0" u="none" dirty="0">
                <a:solidFill>
                  <a:srgbClr val="94A3B8"/>
                </a:solidFill>
                <a:latin typeface="Inter"/>
              </a:rPr>
              <a:t> RPA </a:t>
            </a:r>
            <a:r>
              <a:rPr sz="1500" b="0" i="0" u="none" dirty="0" err="1">
                <a:solidFill>
                  <a:srgbClr val="94A3B8"/>
                </a:solidFill>
                <a:latin typeface="Inter"/>
              </a:rPr>
              <a:t>en</a:t>
            </a:r>
            <a:r>
              <a:rPr sz="1500" b="0" i="0" u="none" dirty="0">
                <a:solidFill>
                  <a:srgbClr val="94A3B8"/>
                </a:solidFill>
                <a:latin typeface="Inter"/>
              </a:rPr>
              <a:t> Oracle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78667" y="4734817"/>
            <a:ext cx="5581650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25" b="0" i="0" u="none" dirty="0">
                <a:solidFill>
                  <a:srgbClr val="CBD5E1"/>
                </a:solidFill>
                <a:latin typeface="Inter"/>
              </a:rPr>
              <a:t> Oracle DB (Bronze → Silver → Gold)  Python &amp; pandas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4775" y="4753867"/>
            <a:ext cx="123825" cy="142875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8958" y="4778571"/>
            <a:ext cx="123825" cy="1428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4797623"/>
            <a:ext cx="10668000" cy="51807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395537"/>
            <a:ext cx="2667000" cy="192583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2500" y="2395537"/>
            <a:ext cx="2667000" cy="192583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2395537"/>
            <a:ext cx="2667000" cy="19258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950023"/>
            <a:ext cx="10363200" cy="213270"/>
          </a:xfrm>
          <a:prstGeom prst="rect">
            <a:avLst/>
          </a:prstGeom>
          <a:noFill/>
        </p:spPr>
        <p:txBody>
          <a:bodyPr wrap="square" lIns="209550" tIns="0" rIns="0" bIns="0" anchor="t">
            <a:spAutoFit/>
          </a:bodyPr>
          <a:lstStyle/>
          <a:p>
            <a:pPr algn="ctr">
              <a:lnSpc>
                <a:spcPts val="1679"/>
              </a:lnSpc>
            </a:pPr>
            <a:r>
              <a:rPr sz="1050" b="0" i="0" u="none">
                <a:solidFill>
                  <a:srgbClr val="475569"/>
                </a:solidFill>
                <a:latin typeface="Inter"/>
              </a:rPr>
              <a:t>Este flujo garantiza el aislamiento de capas de datos cumpliendo con las mejores prácticas de </a:t>
            </a:r>
            <a:r>
              <a:rPr sz="1050" b="0" i="0" u="none">
                <a:solidFill>
                  <a:srgbClr val="0F172A"/>
                </a:solidFill>
                <a:latin typeface="Inter SemiBold"/>
              </a:rPr>
              <a:t>Data Warehousing</a:t>
            </a:r>
            <a:r>
              <a:rPr sz="1050" b="0" i="0" u="none">
                <a:solidFill>
                  <a:srgbClr val="475569"/>
                </a:solidFill>
                <a:latin typeface="Inter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5357" y="2643187"/>
            <a:ext cx="2280285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1" i="0" u="none">
                <a:solidFill>
                  <a:srgbClr val="0D9488"/>
                </a:solidFill>
                <a:latin typeface="Poppins"/>
              </a:rPr>
              <a:t>CARGA INICIAL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5357" y="2919412"/>
            <a:ext cx="2280285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Poppins"/>
              </a:rPr>
              <a:t>Bronze Layer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9650" y="3281362"/>
            <a:ext cx="2171700" cy="792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560"/>
              </a:lnSpc>
            </a:pPr>
            <a:r>
              <a:rPr sz="975" b="0" i="0" u="none">
                <a:solidFill>
                  <a:srgbClr val="0F172A"/>
                </a:solidFill>
                <a:latin typeface="Inter SemiBold"/>
              </a:rPr>
              <a:t>Oracle (TAB_CONSOLIDADO)</a:t>
            </a:r>
            <a:r>
              <a:t>
</a:t>
            </a:r>
            <a:r>
              <a:rPr sz="975" b="0" i="0" u="none">
                <a:solidFill>
                  <a:srgbClr val="64748B"/>
                </a:solidFill>
                <a:latin typeface="Inter"/>
              </a:rPr>
              <a:t> Datos crudos cargados por RPA. Almacena 14 indicadores en formato JSON crudo.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62400" y="3225105"/>
            <a:ext cx="266700" cy="2667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955857" y="2643187"/>
            <a:ext cx="2280285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1" i="0" u="none">
                <a:solidFill>
                  <a:srgbClr val="0D9488"/>
                </a:solidFill>
                <a:latin typeface="Poppins"/>
              </a:rPr>
              <a:t>PROCESAMIENTO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5857" y="2919412"/>
            <a:ext cx="2280285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Poppins"/>
              </a:rPr>
              <a:t>Silver Layer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0150" y="3281362"/>
            <a:ext cx="2171700" cy="792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560"/>
              </a:lnSpc>
            </a:pPr>
            <a:r>
              <a:rPr sz="975" b="0" i="0" u="none">
                <a:solidFill>
                  <a:srgbClr val="0F172A"/>
                </a:solidFill>
                <a:latin typeface="Inter SemiBold"/>
              </a:rPr>
              <a:t>Python / pandas</a:t>
            </a:r>
            <a:r>
              <a:t>
</a:t>
            </a:r>
            <a:r>
              <a:rPr sz="975" b="0" i="0" u="none">
                <a:solidFill>
                  <a:srgbClr val="64748B"/>
                </a:solidFill>
                <a:latin typeface="Inter"/>
              </a:rPr>
              <a:t> Lectura, parseo de JSON y limpieza profunda de nulos, duplicados y formatos.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2900" y="3225105"/>
            <a:ext cx="266700" cy="2667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956357" y="2643187"/>
            <a:ext cx="2280285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1" i="0" u="none">
                <a:solidFill>
                  <a:srgbClr val="0D9488"/>
                </a:solidFill>
                <a:latin typeface="Poppins"/>
              </a:rPr>
              <a:t>CONSOLIDACIÓN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56357" y="2919412"/>
            <a:ext cx="2280285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Poppins"/>
              </a:rPr>
              <a:t>Gold Layer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0650" y="3281362"/>
            <a:ext cx="2171700" cy="792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560"/>
              </a:lnSpc>
            </a:pPr>
            <a:r>
              <a:rPr sz="975" b="0" i="0" u="none">
                <a:solidFill>
                  <a:srgbClr val="0F172A"/>
                </a:solidFill>
                <a:latin typeface="Inter SemiBold"/>
              </a:rPr>
              <a:t>Oracle Views ➔ Power BI</a:t>
            </a:r>
            <a:r>
              <a:t>
</a:t>
            </a:r>
            <a:r>
              <a:rPr sz="975" b="0" i="0" u="none">
                <a:solidFill>
                  <a:srgbClr val="64748B"/>
                </a:solidFill>
                <a:latin typeface="Inter"/>
              </a:rPr>
              <a:t> 6 vistas Gold optimizadas, listas para consumo directo desde reportes analíticos.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00300" y="4988123"/>
            <a:ext cx="133350" cy="1333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14400" y="571500"/>
            <a:ext cx="11041380" cy="434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3420"/>
              </a:lnSpc>
            </a:pPr>
            <a:r>
              <a:rPr sz="2850" b="1" i="0" u="none">
                <a:solidFill>
                  <a:srgbClr val="0F172A"/>
                </a:solidFill>
                <a:latin typeface="Poppins"/>
              </a:rPr>
              <a:t>Flujo Completo de Ingesta y Transformación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2000" y="571500"/>
            <a:ext cx="57150" cy="43428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95500" y="571500"/>
            <a:ext cx="8001000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1" i="0" u="none">
                <a:solidFill>
                  <a:srgbClr val="0D9488"/>
                </a:solidFill>
                <a:latin typeface="Poppins"/>
              </a:rPr>
              <a:t>SECCIÓN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95500" y="885825"/>
            <a:ext cx="8001000" cy="742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900" b="1" i="0" u="none">
                <a:solidFill>
                  <a:srgbClr val="0F172A"/>
                </a:solidFill>
                <a:latin typeface="Poppins"/>
              </a:rPr>
              <a:t>Arquitectura del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524500" y="1857375"/>
            <a:ext cx="1143000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16671C79-BA3C-AF5A-75B0-04852F88D2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422" y="2976529"/>
            <a:ext cx="11027096" cy="762066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B57AB85F-0FBD-680F-02E8-BF421B11DF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207" y="2119279"/>
            <a:ext cx="11202371" cy="62489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95500" y="571500"/>
            <a:ext cx="8001000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1" i="0" u="none">
                <a:solidFill>
                  <a:srgbClr val="0D9488"/>
                </a:solidFill>
                <a:latin typeface="Poppins"/>
              </a:rPr>
              <a:t>SECCIÓN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20899" y="771525"/>
            <a:ext cx="8001000" cy="6001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s-EC" sz="3900" b="1" i="0" u="none" dirty="0" err="1">
                <a:solidFill>
                  <a:srgbClr val="0F172A"/>
                </a:solidFill>
                <a:latin typeface="Poppins"/>
              </a:rPr>
              <a:t>Insercción</a:t>
            </a:r>
            <a:r>
              <a:rPr lang="es-EC" sz="3900" b="1" i="0" u="none" dirty="0">
                <a:solidFill>
                  <a:srgbClr val="0F172A"/>
                </a:solidFill>
                <a:latin typeface="Poppins"/>
              </a:rPr>
              <a:t> de RPA</a:t>
            </a:r>
            <a:endParaRPr sz="3900" b="1" i="0" u="none" dirty="0">
              <a:solidFill>
                <a:srgbClr val="0F172A"/>
              </a:solidFill>
              <a:latin typeface="Poppin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524500" y="2600325"/>
            <a:ext cx="1143000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0728AD33-6A23-8FB2-503F-564E1F014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6234" y="1543050"/>
            <a:ext cx="8119532" cy="438962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234380"/>
            <a:ext cx="3403550" cy="23622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4150" y="1234380"/>
            <a:ext cx="3403550" cy="2362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6300" y="1234380"/>
            <a:ext cx="3403550" cy="2362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7275" y="2101155"/>
            <a:ext cx="295365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oppins"/>
              </a:rPr>
              <a:t>Conexión &amp; Orquestación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7275" y="2501205"/>
            <a:ext cx="2813000" cy="800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0F172A"/>
                </a:solidFill>
                <a:latin typeface="Inter SemiBold"/>
              </a:rPr>
              <a:t>db.py &amp; load.py:</a:t>
            </a:r>
            <a:r>
              <a:t>
</a:t>
            </a:r>
            <a:r>
              <a:rPr sz="1050" b="0" i="0" u="none">
                <a:solidFill>
                  <a:srgbClr val="64748B"/>
                </a:solidFill>
                <a:latin typeface="Inter"/>
              </a:rPr>
              <a:t> Administración de la conexión a Oracle en modo Thin. Orquesta la extracción, limpia tablas, inserta por lotes y recrea vistas.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89425" y="2101155"/>
            <a:ext cx="295365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oppins"/>
              </a:rPr>
              <a:t>Módulos de Limpieza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89425" y="2501205"/>
            <a:ext cx="2813000" cy="800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0F172A"/>
                </a:solidFill>
                <a:latin typeface="Inter SemiBold"/>
              </a:rPr>
              <a:t>transform/ (*.py):</a:t>
            </a:r>
            <a:r>
              <a:t>
</a:t>
            </a:r>
            <a:r>
              <a:rPr sz="1050" b="0" i="0" u="none">
                <a:solidFill>
                  <a:srgbClr val="64748B"/>
                </a:solidFill>
                <a:latin typeface="Inter"/>
              </a:rPr>
              <a:t> Limpieza específica por dominio: BCE (PIB, petróleo), Censo (empleo), Mineduc (colegios) y Supercias (empresas).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575" y="2101155"/>
            <a:ext cx="295365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oppins"/>
              </a:rPr>
              <a:t>Modelado Relacional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575" y="2501205"/>
            <a:ext cx="2813000" cy="800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0F172A"/>
                </a:solidFill>
                <a:latin typeface="Inter SemiBold"/>
              </a:rPr>
              <a:t>sql/gold_views.sql:</a:t>
            </a:r>
            <a:r>
              <a:t>
</a:t>
            </a:r>
            <a:r>
              <a:rPr sz="1050" b="0" i="0" u="none">
                <a:solidFill>
                  <a:srgbClr val="64748B"/>
                </a:solidFill>
                <a:latin typeface="Inter"/>
              </a:rPr>
              <a:t> Definiciones SQL nativas para generar las vistas agregadas y de negocio de la capa Gold.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7275" y="1567755"/>
            <a:ext cx="257175" cy="3429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89425" y="1567755"/>
            <a:ext cx="342900" cy="3429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21575" y="1567755"/>
            <a:ext cx="304800" cy="3429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14400" y="571500"/>
            <a:ext cx="11041380" cy="434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3420"/>
              </a:lnSpc>
            </a:pPr>
            <a:r>
              <a:rPr sz="2850" b="1" i="0" u="none">
                <a:solidFill>
                  <a:srgbClr val="0F172A"/>
                </a:solidFill>
                <a:latin typeface="Poppins"/>
              </a:rPr>
              <a:t>Estructura Modular del Proyecto Python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2000" y="571500"/>
            <a:ext cx="57150" cy="43428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1950690"/>
            <a:ext cx="5143500" cy="3619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04900" y="2309366"/>
            <a:ext cx="4800600" cy="7768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39"/>
              </a:lnSpc>
            </a:pPr>
            <a:r>
              <a:rPr sz="1275" b="0" i="0" u="none">
                <a:solidFill>
                  <a:srgbClr val="0F172A"/>
                </a:solidFill>
                <a:latin typeface="Inter SemiBold"/>
              </a:rPr>
              <a:t>Identificación del Comportamiento:</a:t>
            </a:r>
            <a:r>
              <a:rPr sz="1275" b="0" i="0" u="none">
                <a:solidFill>
                  <a:srgbClr val="475569"/>
                </a:solidFill>
                <a:latin typeface="Inter"/>
              </a:rPr>
              <a:t> Se identificaron nulos legítimos provenientes de la fuente original en series de tiempo.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4900" y="3276748"/>
            <a:ext cx="4800600" cy="7768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39"/>
              </a:lnSpc>
            </a:pPr>
            <a:r>
              <a:rPr sz="1275" b="0" i="0" u="none">
                <a:solidFill>
                  <a:srgbClr val="0F172A"/>
                </a:solidFill>
                <a:latin typeface="Inter SemiBold"/>
              </a:rPr>
              <a:t>PIB Nominal e Real:</a:t>
            </a:r>
            <a:r>
              <a:rPr sz="1275" b="0" i="0" u="none">
                <a:solidFill>
                  <a:srgbClr val="475569"/>
                </a:solidFill>
                <a:latin typeface="Inter"/>
              </a:rPr>
              <a:t> El primer año de la serie del PIB contiene un valor de tasa_variacion_anual nulo debido a la falta de año de comparación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900" y="4244131"/>
            <a:ext cx="4800600" cy="7768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39"/>
              </a:lnSpc>
            </a:pPr>
            <a:r>
              <a:rPr sz="1275" b="0" i="0" u="none">
                <a:solidFill>
                  <a:srgbClr val="0F172A"/>
                </a:solidFill>
                <a:latin typeface="Inter SemiBold"/>
              </a:rPr>
              <a:t>Políticas Aplicadas:</a:t>
            </a:r>
            <a:r>
              <a:rPr sz="1275" b="0" i="0" u="none">
                <a:solidFill>
                  <a:srgbClr val="475569"/>
                </a:solidFill>
                <a:latin typeface="Inter"/>
              </a:rPr>
              <a:t> Los nulos se preservan y documentan para Power BI. </a:t>
            </a:r>
            <a:r>
              <a:rPr sz="1275" b="0" i="0" u="none">
                <a:solidFill>
                  <a:srgbClr val="0F172A"/>
                </a:solidFill>
                <a:latin typeface="Inter SemiBold"/>
              </a:rPr>
              <a:t>No se imputan, no se inventan, ni se eliminan</a:t>
            </a:r>
            <a:r>
              <a:rPr sz="1275" b="0" i="0" u="none">
                <a:solidFill>
                  <a:srgbClr val="475569"/>
                </a:solidFill>
                <a:latin typeface="Inter"/>
              </a:rPr>
              <a:t> para evitar sesgar el análisis.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342703"/>
            <a:ext cx="142875" cy="200025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3310086"/>
            <a:ext cx="190500" cy="200025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4277469"/>
            <a:ext cx="190500" cy="2000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4400" y="571500"/>
            <a:ext cx="11041380" cy="434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3420"/>
              </a:lnSpc>
            </a:pPr>
            <a:r>
              <a:rPr sz="2850" b="1" i="0" u="none">
                <a:solidFill>
                  <a:srgbClr val="0F172A"/>
                </a:solidFill>
                <a:latin typeface="Poppins"/>
              </a:rPr>
              <a:t>Regla 1: Gestión de Nulos Reales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2000" y="571500"/>
            <a:ext cx="57150" cy="43428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574577"/>
            <a:ext cx="3403550" cy="23717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4150" y="2574577"/>
            <a:ext cx="3403550" cy="23717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6300" y="2574577"/>
            <a:ext cx="3403550" cy="23717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7275" y="3441352"/>
            <a:ext cx="295365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oppins"/>
              </a:rPr>
              <a:t>Llaves Naturales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7275" y="3841402"/>
            <a:ext cx="2813000" cy="800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64748B"/>
                </a:solidFill>
                <a:latin typeface="Inter"/>
              </a:rPr>
              <a:t>Uso estricto de claves naturales para evaluar duplicidad: Fecha para series temporales, RUC para empresas, Expediente + Año para el ranking corporativo.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89425" y="3441352"/>
            <a:ext cx="295365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oppins"/>
              </a:rPr>
              <a:t>Módulo Común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89425" y="3841402"/>
            <a:ext cx="2813000" cy="809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64748B"/>
                </a:solidFill>
                <a:latin typeface="Inter"/>
              </a:rPr>
              <a:t>Implementación de la función centralizada drop_duplicates_report() que audita y reporta los registros repetidos eliminados en tiempo de ejecución.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575" y="3441352"/>
            <a:ext cx="295365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oppins"/>
              </a:rPr>
              <a:t>Integridad Referencial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575" y="3841402"/>
            <a:ext cx="2813000" cy="800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64748B"/>
                </a:solidFill>
                <a:latin typeface="Inter"/>
              </a:rPr>
              <a:t>Asegura que cada tabla Silver conserve una única fila representativa por entidad, evitando la duplicación de métricas financieras y demográficas.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7275" y="2907952"/>
            <a:ext cx="342900" cy="3429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89425" y="2907952"/>
            <a:ext cx="390525" cy="3429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21575" y="2907952"/>
            <a:ext cx="304800" cy="3429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14400" y="571500"/>
            <a:ext cx="11041380" cy="434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3420"/>
              </a:lnSpc>
            </a:pPr>
            <a:r>
              <a:rPr sz="2850" b="1" i="0" u="none">
                <a:solidFill>
                  <a:srgbClr val="0F172A"/>
                </a:solidFill>
                <a:latin typeface="Poppins"/>
              </a:rPr>
              <a:t>Regla 2: Eliminación Estratégica de Duplicados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2000" y="571500"/>
            <a:ext cx="57150" cy="43428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76400" y="2697807"/>
            <a:ext cx="9182100" cy="5179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39"/>
              </a:lnSpc>
            </a:pPr>
            <a:r>
              <a:rPr sz="1275" b="0" i="0" u="none">
                <a:solidFill>
                  <a:srgbClr val="0F172A"/>
                </a:solidFill>
                <a:latin typeface="Inter SemiBold"/>
              </a:rPr>
              <a:t>Fechas Uniformes:</a:t>
            </a:r>
            <a:r>
              <a:rPr sz="1275" b="0" i="0" u="none">
                <a:solidFill>
                  <a:srgbClr val="475569"/>
                </a:solidFill>
                <a:latin typeface="Inter"/>
              </a:rPr>
              <a:t> Conversión estricta de cadenas de texto y formatos variados a formato estándar ISO AAAA-MM-DD mediante pd.to_datetime().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76400" y="3406229"/>
            <a:ext cx="9182100" cy="5179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39"/>
              </a:lnSpc>
            </a:pPr>
            <a:r>
              <a:rPr sz="1275" b="0" i="0" u="none">
                <a:solidFill>
                  <a:srgbClr val="0F172A"/>
                </a:solidFill>
                <a:latin typeface="Inter SemiBold"/>
              </a:rPr>
              <a:t>Coerción Numérica Segura:</a:t>
            </a:r>
            <a:r>
              <a:rPr sz="1275" b="0" i="0" u="none">
                <a:solidFill>
                  <a:srgbClr val="475569"/>
                </a:solidFill>
                <a:latin typeface="Inter"/>
              </a:rPr>
              <a:t> Implementación de la función personalizada to_numeric_safe() que fuerza valores erróneos, strings vacíos o caracteres inválidos a nulos lógicos (Float/Int).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76400" y="4114651"/>
            <a:ext cx="9182100" cy="5179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39"/>
              </a:lnSpc>
            </a:pPr>
            <a:r>
              <a:rPr sz="1275" b="0" i="0" u="none">
                <a:solidFill>
                  <a:srgbClr val="0F172A"/>
                </a:solidFill>
                <a:latin typeface="Inter SemiBold"/>
              </a:rPr>
              <a:t>Normalización de Texto:</a:t>
            </a:r>
            <a:r>
              <a:rPr sz="1275" b="0" i="0" u="none">
                <a:solidFill>
                  <a:srgbClr val="475569"/>
                </a:solidFill>
                <a:latin typeface="Inter"/>
              </a:rPr>
              <a:t> Aplicación del procesador centralizado clean_text() encargado de eliminar espacios en blanco adicionales (Trim), convertir strings a MAYÚSCULAS y colapsar espacios internos redundantes.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3500" y="2731144"/>
            <a:ext cx="171450" cy="20002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3500" y="3439566"/>
            <a:ext cx="161925" cy="200025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33500" y="4147988"/>
            <a:ext cx="171450" cy="2000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571500"/>
            <a:ext cx="11041380" cy="434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3420"/>
              </a:lnSpc>
            </a:pPr>
            <a:r>
              <a:rPr sz="2850" b="1" i="0" u="none" dirty="0">
                <a:solidFill>
                  <a:srgbClr val="0F172A"/>
                </a:solidFill>
                <a:latin typeface="Poppins"/>
              </a:rPr>
              <a:t>Regla 3: </a:t>
            </a:r>
            <a:r>
              <a:rPr sz="2850" b="1" i="0" u="none" dirty="0" err="1">
                <a:solidFill>
                  <a:srgbClr val="0F172A"/>
                </a:solidFill>
                <a:latin typeface="Poppins"/>
              </a:rPr>
              <a:t>Estandarización</a:t>
            </a:r>
            <a:r>
              <a:rPr sz="2850" b="1" i="0" u="none" dirty="0">
                <a:solidFill>
                  <a:srgbClr val="0F172A"/>
                </a:solidFill>
                <a:latin typeface="Poppins"/>
              </a:rPr>
              <a:t> de </a:t>
            </a:r>
            <a:r>
              <a:rPr sz="2850" b="1" i="0" u="none" dirty="0" err="1">
                <a:solidFill>
                  <a:srgbClr val="0F172A"/>
                </a:solidFill>
                <a:latin typeface="Poppins"/>
              </a:rPr>
              <a:t>Formatos</a:t>
            </a:r>
            <a:r>
              <a:rPr sz="2850" b="1" i="0" u="none" dirty="0">
                <a:solidFill>
                  <a:srgbClr val="0F172A"/>
                </a:solidFill>
                <a:latin typeface="Poppins"/>
              </a:rPr>
              <a:t> de Datos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2000" y="571500"/>
            <a:ext cx="57150" cy="43428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A7D24B72-F79C-5E76-FC74-C8F734CAB1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570" y="850280"/>
            <a:ext cx="10411838" cy="2653997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AD1F177F-F270-0B33-76C3-A68B147D94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7166" y="3429000"/>
            <a:ext cx="9837905" cy="3312315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00419F19-CA86-7C22-36E5-AF5A4BA54BCF}"/>
              </a:ext>
            </a:extLst>
          </p:cNvPr>
          <p:cNvSpPr txBox="1"/>
          <p:nvPr/>
        </p:nvSpPr>
        <p:spPr>
          <a:xfrm>
            <a:off x="1459148" y="311445"/>
            <a:ext cx="49027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b="1" dirty="0"/>
              <a:t>Comprobación de datos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3531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1950690"/>
            <a:ext cx="5143500" cy="3619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2173783"/>
            <a:ext cx="5400675" cy="276225"/>
          </a:xfrm>
          <a:prstGeom prst="rect">
            <a:avLst/>
          </a:prstGeom>
          <a:noFill/>
        </p:spPr>
        <p:txBody>
          <a:bodyPr wrap="square" lIns="257175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E11D48"/>
                </a:solidFill>
                <a:latin typeface="Poppins"/>
              </a:rPr>
              <a:t>Corrupción de Nombres en INEC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2602408"/>
            <a:ext cx="5143500" cy="975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475569"/>
                </a:solidFill>
                <a:latin typeface="Inter"/>
              </a:rPr>
              <a:t>El indicador INEC_ENEMDU_POBLACIONES importaba caracteres corruptos (ej. </a:t>
            </a:r>
            <a:r>
              <a:rPr sz="1200" b="0" i="0" u="none">
                <a:solidFill>
                  <a:srgbClr val="0F172A"/>
                </a:solidFill>
                <a:latin typeface="Inter SemiBold"/>
              </a:rPr>
              <a:t>"Poblacin Total"</a:t>
            </a:r>
            <a:r>
              <a:rPr sz="1200" b="0" i="0" u="none">
                <a:solidFill>
                  <a:srgbClr val="475569"/>
                </a:solidFill>
                <a:latin typeface="Inter"/>
              </a:rPr>
              <a:t>) debido a la omisión de la configuración del set de caracteres adecuado durante la carga de SQL*Plus original.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806130"/>
            <a:ext cx="5400675" cy="276225"/>
          </a:xfrm>
          <a:prstGeom prst="rect">
            <a:avLst/>
          </a:prstGeom>
          <a:noFill/>
        </p:spPr>
        <p:txBody>
          <a:bodyPr wrap="square" lIns="257175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0D9488"/>
                </a:solidFill>
                <a:latin typeface="Poppins"/>
              </a:rPr>
              <a:t>Acción Correctiva Aplicada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234755"/>
            <a:ext cx="5143500" cy="7313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475569"/>
                </a:solidFill>
                <a:latin typeface="Inter"/>
              </a:rPr>
              <a:t>La solución definitiva requiere forzar la variable de entorno del cliente SQL*Plus previa a la carga con la configuración de idioma y encoding regional adecuada para UTF-8: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221408"/>
            <a:ext cx="180975" cy="178296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3853755"/>
            <a:ext cx="180975" cy="1782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4400" y="571500"/>
            <a:ext cx="11041380" cy="434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3420"/>
              </a:lnSpc>
            </a:pPr>
            <a:r>
              <a:rPr sz="2850" b="1" i="0" u="none">
                <a:solidFill>
                  <a:srgbClr val="0F172A"/>
                </a:solidFill>
                <a:latin typeface="Poppins"/>
              </a:rPr>
              <a:t>Bug de Codificación Detectado &amp; Solucionado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2000" y="571500"/>
            <a:ext cx="57150" cy="43428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B41CA86B-CA56-A1F2-BE9E-1901BE020680}"/>
              </a:ext>
            </a:extLst>
          </p:cNvPr>
          <p:cNvSpPr txBox="1"/>
          <p:nvPr/>
        </p:nvSpPr>
        <p:spPr>
          <a:xfrm>
            <a:off x="8280400" y="3068925"/>
            <a:ext cx="16764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600" dirty="0"/>
              <a:t>�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09319A1D-518B-5B96-D0FB-5E1721BCAF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245" y="2055262"/>
            <a:ext cx="11179509" cy="2552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599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663279"/>
            <a:ext cx="5143500" cy="2194321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3660427"/>
            <a:ext cx="5143500" cy="15123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43000" y="3044279"/>
            <a:ext cx="43815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5400"/>
              </a:lnSpc>
            </a:pPr>
            <a:r>
              <a:rPr sz="5400" b="1" i="0" u="none">
                <a:solidFill>
                  <a:srgbClr val="14B8A6"/>
                </a:solidFill>
                <a:latin typeface="Poppins"/>
              </a:rPr>
              <a:t>1.67M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806279"/>
            <a:ext cx="4381500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0" i="0" u="none">
                <a:solidFill>
                  <a:srgbClr val="CBD5E1"/>
                </a:solidFill>
                <a:latin typeface="Inter"/>
              </a:rPr>
              <a:t>FILAS PROCESADAS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120604"/>
            <a:ext cx="4381500" cy="355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364"/>
              </a:lnSpc>
            </a:pPr>
            <a:r>
              <a:rPr sz="975" b="0" i="0" u="none">
                <a:solidFill>
                  <a:srgbClr val="94A3B8"/>
                </a:solidFill>
                <a:latin typeface="Inter"/>
              </a:rPr>
              <a:t>Volumen de datos correspondiente a la tabla más pesada: SILVER_SUPERCIAS_RANKING.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2348061"/>
            <a:ext cx="5400675" cy="276225"/>
          </a:xfrm>
          <a:prstGeom prst="rect">
            <a:avLst/>
          </a:prstGeom>
          <a:noFill/>
        </p:spPr>
        <p:txBody>
          <a:bodyPr wrap="square" lIns="22860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0F172A"/>
                </a:solidFill>
                <a:latin typeface="Poppins"/>
              </a:rPr>
              <a:t>Carga por Lotes Optimizada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6500" y="2776686"/>
            <a:ext cx="5143500" cy="7313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475569"/>
                </a:solidFill>
                <a:latin typeface="Inter"/>
              </a:rPr>
              <a:t>Para evitar demoras excesivas, el cargador de load.py utiliza inserciones masivas parametrizadas con la interfaz eficiente executemany() de Python-oracledb.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6500" y="2395686"/>
            <a:ext cx="152400" cy="1782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86525" y="3860452"/>
            <a:ext cx="47434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0" i="0" u="none">
                <a:solidFill>
                  <a:srgbClr val="0F172A"/>
                </a:solidFill>
                <a:latin typeface="Inter SemiBold"/>
              </a:rPr>
              <a:t>Ajuste de Lotes Inteligente: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6525" y="4165252"/>
            <a:ext cx="4743450" cy="243780"/>
          </a:xfrm>
          <a:prstGeom prst="rect">
            <a:avLst/>
          </a:prstGeom>
          <a:noFill/>
        </p:spPr>
        <p:txBody>
          <a:bodyPr wrap="square" lIns="20955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0F172A"/>
                </a:solidFill>
                <a:latin typeface="Inter SemiBold"/>
              </a:rPr>
              <a:t>Batch Size Base:</a:t>
            </a:r>
            <a:r>
              <a:rPr sz="1200" b="0" i="0" u="none">
                <a:solidFill>
                  <a:srgbClr val="475569"/>
                </a:solidFill>
                <a:latin typeface="Inter"/>
              </a:rPr>
              <a:t> Configurado en 5,000 registros por lote.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6525" y="4485233"/>
            <a:ext cx="4743450" cy="487560"/>
          </a:xfrm>
          <a:prstGeom prst="rect">
            <a:avLst/>
          </a:prstGeom>
          <a:noFill/>
        </p:spPr>
        <p:txBody>
          <a:bodyPr wrap="square" lIns="20955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0F172A"/>
                </a:solidFill>
                <a:latin typeface="Inter SemiBold"/>
              </a:rPr>
              <a:t>Recomendación Pro:</a:t>
            </a:r>
            <a:r>
              <a:rPr sz="1200" b="0" i="0" u="none">
                <a:solidFill>
                  <a:srgbClr val="475569"/>
                </a:solidFill>
                <a:latin typeface="Inter"/>
              </a:rPr>
              <a:t> Incrementar a 10,000 o 20,000 para optimizar la latencia de red.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86525" y="4203352"/>
            <a:ext cx="133350" cy="15240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86525" y="4523333"/>
            <a:ext cx="133350" cy="152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14400" y="571500"/>
            <a:ext cx="11041380" cy="434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3420"/>
              </a:lnSpc>
            </a:pPr>
            <a:r>
              <a:rPr sz="2850" b="1" i="0" u="none">
                <a:solidFill>
                  <a:srgbClr val="0F172A"/>
                </a:solidFill>
                <a:latin typeface="Poppins"/>
              </a:rPr>
              <a:t>Estrategia de Carga Masiva (High Performance)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2000" y="571500"/>
            <a:ext cx="57150" cy="43428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632049"/>
            <a:ext cx="10668000" cy="425678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71525" y="1641574"/>
            <a:ext cx="10648950" cy="4237732"/>
          </a:xfrm>
          <a:prstGeom prst="roundRect">
            <a:avLst>
              <a:gd name="adj" fmla="val 0"/>
            </a:avLst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1525" y="1641574"/>
          <a:ext cx="10648948" cy="42377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94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297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246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06288"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FFFFFF"/>
                          </a:solidFill>
                          <a:latin typeface="Poppins SemiBold"/>
                        </a:rPr>
                        <a:t>Nombre de la Vista Gold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FFFFFF"/>
                          </a:solidFill>
                          <a:latin typeface="Poppins SemiBold"/>
                        </a:rPr>
                        <a:t>Área Temática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FFFFFF"/>
                          </a:solidFill>
                          <a:latin typeface="Poppins SemiBold"/>
                        </a:rPr>
                        <a:t>Objetivo Analítico / Pregunta de Negocio que Resuelve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6288"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475569"/>
                          </a:solidFill>
                          <a:latin typeface="Inter"/>
                        </a:rPr>
                        <a:t>GOLD_PIB_TENDENCIA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475569"/>
                          </a:solidFill>
                          <a:latin typeface="Inter"/>
                        </a:rPr>
                        <a:t>Macroeconomía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475569"/>
                          </a:solidFill>
                          <a:latin typeface="Inter"/>
                        </a:rPr>
                        <a:t>Evolución histórica de la tendencia de producción y clasificación del ciclo económico.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6288"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475569"/>
                          </a:solidFill>
                          <a:latin typeface="Inter"/>
                        </a:rPr>
                        <a:t>GOLD_PETROLEO_30DIAS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475569"/>
                          </a:solidFill>
                          <a:latin typeface="Inter"/>
                        </a:rPr>
                        <a:t>Commodities / Riesgo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475569"/>
                          </a:solidFill>
                          <a:latin typeface="Inter"/>
                        </a:rPr>
                        <a:t>Monitoreo diario del precio del barril de petróleo y su correlación con el Riesgo País.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6288"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475569"/>
                          </a:solidFill>
                          <a:latin typeface="Inter"/>
                        </a:rPr>
                        <a:t>GOLD_EMPRESAS_PROVINCIA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475569"/>
                          </a:solidFill>
                          <a:latin typeface="Inter"/>
                        </a:rPr>
                        <a:t>Corporativo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475569"/>
                          </a:solidFill>
                          <a:latin typeface="Inter"/>
                        </a:rPr>
                        <a:t>Densidad de empresas activas de la Supercias distribuidas a nivel nacional y provincial.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6288"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475569"/>
                          </a:solidFill>
                          <a:latin typeface="Inter"/>
                        </a:rPr>
                        <a:t>GOLD_BACHILLERES_VS_EMPRESAS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475569"/>
                          </a:solidFill>
                          <a:latin typeface="Inter"/>
                        </a:rPr>
                        <a:t>Educación / Empleo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475569"/>
                          </a:solidFill>
                          <a:latin typeface="Inter"/>
                        </a:rPr>
                        <a:t>Relación de talento joven disponible frente a la demanda y creación de empresas locales.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6292"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475569"/>
                          </a:solidFill>
                          <a:latin typeface="Inter"/>
                        </a:rPr>
                        <a:t>GOLD_EMPLEO_TENDENCIA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475569"/>
                          </a:solidFill>
                          <a:latin typeface="Inter"/>
                        </a:rPr>
                        <a:t>Mercado Laboral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475569"/>
                          </a:solidFill>
                          <a:latin typeface="Inter"/>
                        </a:rPr>
                        <a:t>Nueva tendencia de la población laboral urbana y rural basada en datos de ENEMDU.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1525" y="2901553"/>
            <a:ext cx="319459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966120" y="2901553"/>
            <a:ext cx="212973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095851" y="2901553"/>
            <a:ext cx="5324623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71525" y="3642419"/>
            <a:ext cx="319459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966120" y="3642419"/>
            <a:ext cx="212973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095851" y="3642419"/>
            <a:ext cx="5324623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1525" y="4383285"/>
            <a:ext cx="319459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966120" y="4383285"/>
            <a:ext cx="212973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095851" y="4383285"/>
            <a:ext cx="5324623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71525" y="5124152"/>
            <a:ext cx="319459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966120" y="5124152"/>
            <a:ext cx="212973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095851" y="5124152"/>
            <a:ext cx="5324623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71525" y="5865018"/>
            <a:ext cx="319459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966120" y="5865018"/>
            <a:ext cx="212973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095851" y="5865018"/>
            <a:ext cx="5324623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571500"/>
            <a:ext cx="11041380" cy="434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3420"/>
              </a:lnSpc>
            </a:pPr>
            <a:r>
              <a:rPr sz="2850" b="1" i="0" u="none">
                <a:solidFill>
                  <a:srgbClr val="0F172A"/>
                </a:solidFill>
                <a:latin typeface="Poppins"/>
              </a:rPr>
              <a:t>Capa Gold: Vistas Optimizadas para Power BI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2000" y="571500"/>
            <a:ext cx="57150" cy="43428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825</Words>
  <Application>Microsoft Office PowerPoint</Application>
  <PresentationFormat>Panorámica</PresentationFormat>
  <Paragraphs>76</Paragraphs>
  <Slides>13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20" baseType="lpstr">
      <vt:lpstr>Arial</vt:lpstr>
      <vt:lpstr>Calibri</vt:lpstr>
      <vt:lpstr>Inter</vt:lpstr>
      <vt:lpstr>Inter SemiBold</vt:lpstr>
      <vt:lpstr>Poppins</vt:lpstr>
      <vt:lpstr>Poppins SemiBold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Pedro VR</dc:creator>
  <cp:keywords/>
  <dc:description>generated using python-pptx</dc:description>
  <cp:lastModifiedBy>Pedro Antonio Vargas Ruiz</cp:lastModifiedBy>
  <cp:revision>4</cp:revision>
  <dcterms:created xsi:type="dcterms:W3CDTF">2013-01-27T09:14:16Z</dcterms:created>
  <dcterms:modified xsi:type="dcterms:W3CDTF">2026-07-17T21:10:48Z</dcterms:modified>
  <cp:category/>
</cp:coreProperties>
</file>
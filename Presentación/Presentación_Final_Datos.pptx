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58" r:id="rId3"/>
    <p:sldId id="259" r:id="rId4"/>
    <p:sldId id="265" r:id="rId5"/>
    <p:sldId id="269" r:id="rId6"/>
    <p:sldId id="270" r:id="rId7"/>
    <p:sldId id="260" r:id="rId8"/>
    <p:sldId id="268" r:id="rId9"/>
    <p:sldId id="267" r:id="rId10"/>
    <p:sldId id="266" r:id="rId11"/>
    <p:sldId id="261" r:id="rId12"/>
    <p:sldId id="263" r:id="rId13"/>
    <p:sldId id="264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1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C938-6D77-C183-0DAE-6A2B8E57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946AF-84A8-DD0E-D9CD-0ECA12966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4B510-2469-C8D6-B3B6-4A936A386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51ADD-F112-5E83-9CE5-4FA1992A92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88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A10D-E741-E4E0-844C-E5295126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98124-4456-1038-ED5E-AE47BA9EB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CC19A-A8AF-F097-FB3C-FAB49EC64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E87AD-D73C-2A09-E754-C211D4798C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3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1CCF-A867-B503-A27B-079DA293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BDF87-B5B0-7DCE-973D-3D2B3FFFB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3B400-912A-B3F3-3A29-DEAD2D124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AF586-FFB2-4E81-0A5A-C03174E3A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60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0022F-4BDF-0BBE-5D59-B70CCFD2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7FFAA-9830-DB51-0967-2EACD1857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526A8-12B0-C789-3090-A4381BDA5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0FF7F-AA61-E350-9BBF-AEF5F7135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81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3DA26-9108-8EFB-0DD7-BDA19218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34529-A511-5262-A7F5-57EA5BCA1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ADE97-8356-CE3D-8970-F7CFC1236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9165D-FB4B-A9E6-3F62-88522D095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48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530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624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710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4206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357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6162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02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080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764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716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622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3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6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D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32A4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E8A9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PRACTICUM 1.2 · INGENIERÍA DE DATOS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Datos del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Macroentorno Ecuatoriano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archivos crudos del BCE, INEC, MINEDUC y Supercías a un tablero analítico confiable, pasando por un proceso RPA en Oracle y una arquitectura Bronze-Silver-Gold.</a:t>
            </a:r>
            <a:endParaRPr lang="en-US" sz="1400" dirty="0"/>
          </a:p>
        </p:txBody>
      </p:sp>
      <p:pic>
        <p:nvPicPr>
          <p:cNvPr id="8" name="Image 0" descr="icons/database_E8A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63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4690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 →  Python (pandas)  →  SQLite  →  Power BI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Antonio Vargas Ruiz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Técnica Particular de Loja ·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8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E8A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públicos valiosos, pero atrapados en archivos sueltos y procesos manuales.</a:t>
            </a:r>
            <a:endParaRPr lang="en-US" sz="1500" dirty="0"/>
          </a:p>
        </p:txBody>
      </p:sp>
      <p:pic>
        <p:nvPicPr>
          <p:cNvPr id="6" name="Image 0" descr="icons/warning_E8A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2064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594360"/>
            <a:ext cx="457200" cy="4572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132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0" y="594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57800" y="548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dispersas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57800" y="9144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BCE, INEC, MINEDUC y Supercías publican en Excel, CSV y JSON, cada uno con su propio formato y sin estandarizar.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132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57800" y="1965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 de la limpieza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7800" y="23317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documenta qué se corrigió, qué se descartó ni por qué — cada análisis vuelve a partir de cero.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3429000"/>
            <a:ext cx="457200" cy="4572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132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57800" y="33832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que solo extrae, no limpia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57800" y="37490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robot consolida 14 indicadores en una tabla de Oracle, pero el dato llega crudo dentro de un campo JSON.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4846320"/>
            <a:ext cx="457200" cy="4572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132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57800" y="4800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negocio sin responder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57800" y="51663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va el PIB? ¿Dónde hay más empresas? ¿Alcanzan las empresas para los bachilleres que se gradúan?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Bronze → Silver → Gold, con Python como motor de limpieza en cada etapa.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5900" y="17373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8C99A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18836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14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C9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· TAB_CONSOLIDADO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indicadores crudos en JSON, cargados por el RPA (BCE, INEC, MINEDUC, Supercías).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1752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29100" y="17373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8A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4" y="188366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514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291840" y="2834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pandas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7472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tablas limpias: nulos documentados, duplicados eliminados, formatos corregidos.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76072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35040" y="14630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972300" y="17373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604" y="188366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2514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035040" y="2834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Vistas SQL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1792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vistas analíticas listas para consumir, sin volver a escribir un JOIN.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50392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8778240" y="14630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715500" y="17373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icons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804" y="188366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78240" y="2514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778240" y="2834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A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96112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interactivo que responde 3 preguntas clave del macroentorno.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824F0-58CC-EBCC-AC04-E0446EFF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6C8B22-17E8-59CD-6CED-0338656DEBB6}"/>
              </a:ext>
            </a:extLst>
          </p:cNvPr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116272-72C6-F39D-6580-5A0BE3231E94}"/>
              </a:ext>
            </a:extLst>
          </p:cNvPr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Bronze → Silver → Gold, con Python como motor de limpieza en cada etapa.</a:t>
            </a:r>
            <a:endParaRPr lang="en-US" sz="13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B334B9EC-38B9-3EEB-0C62-0552EC1C7340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A539C046-9AD8-4AB0-B3C8-1CF3B48D232D}"/>
              </a:ext>
            </a:extLst>
          </p:cNvPr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p:sp>
        <p:nvSpPr>
          <p:cNvPr id="50" name="Card BG"/>
          <p:cNvSpPr/>
          <p:nvPr/>
        </p:nvSpPr>
        <p:spPr>
          <a:xfrm>
            <a:off x="548640" y="2236644"/>
            <a:ext cx="11094720" cy="32716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FAA27FA8-1A4A-448F-E19B-5CECFF5396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84" b="58667"/>
          <a:stretch/>
        </p:blipFill>
        <p:spPr>
          <a:xfrm>
            <a:off x="822960" y="2510964"/>
            <a:ext cx="10546080" cy="272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287B1-BA49-FF0E-BAF5-DDCBC5E6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A6C7A4-1308-C5F9-15CD-DB3BF4713FD7}"/>
              </a:ext>
            </a:extLst>
          </p:cNvPr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2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924689A-AAF7-ADC8-81AF-6C8C17A6DEA7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354E706-C1ED-2C50-A81B-8D418F5F13E3}"/>
              </a:ext>
            </a:extLst>
          </p:cNvPr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50" name="Card BG"/>
          <p:cNvSpPr/>
          <p:nvPr/>
        </p:nvSpPr>
        <p:spPr>
          <a:xfrm>
            <a:off x="3488079" y="1557754"/>
            <a:ext cx="7154235" cy="4263699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5BB462-F6F0-3456-6A2D-E2302CCAC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679" y="1786354"/>
            <a:ext cx="6697035" cy="3806499"/>
          </a:xfrm>
          <a:prstGeom prst="rect">
            <a:avLst/>
          </a:prstGeom>
        </p:spPr>
      </p:pic>
      <p:sp>
        <p:nvSpPr>
          <p:cNvPr id="60" name="Circle 1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1E8A9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A99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097280" y="2560320"/>
            <a:ext cx="220000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s-EC" sz="1500" b="1" dirty="0">
                <a:solidFill>
                  <a:srgbClr val="132A46"/>
                </a:solidFill>
                <a:latin typeface="Arial" pitchFamily="34" charset="0"/>
              </a:rPr>
              <a:t>Creación de usuario ADMIN</a:t>
            </a:r>
          </a:p>
        </p:txBody>
      </p:sp>
      <p:sp>
        <p:nvSpPr>
          <p:cNvPr id="61" name="Circle 2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E8AA4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A42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097280" y="3474720"/>
            <a:ext cx="220000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s-EC" sz="1500" b="1" dirty="0">
                <a:solidFill>
                  <a:srgbClr val="132A46"/>
                </a:solidFill>
                <a:latin typeface="Arial" pitchFamily="34" charset="0"/>
              </a:rPr>
              <a:t>¿Por qué ADMIN?</a:t>
            </a:r>
          </a:p>
        </p:txBody>
      </p:sp>
    </p:spTree>
    <p:extLst>
      <p:ext uri="{BB962C8B-B14F-4D97-AF65-F5344CB8AC3E}">
        <p14:creationId xmlns:p14="http://schemas.microsoft.com/office/powerpoint/2010/main" val="104548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FD153-5A4B-389F-0302-D79510C0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CA9D1B-2755-911B-886B-218D170B1571}"/>
              </a:ext>
            </a:extLst>
          </p:cNvPr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2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19C58C-BD42-7832-453B-785AC327EF38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8710F5A-7203-6BAA-A928-503592092328}"/>
              </a:ext>
            </a:extLst>
          </p:cNvPr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s-EC" sz="1300" dirty="0" err="1">
                <a:solidFill>
                  <a:srgbClr val="5B6675"/>
                </a:solidFill>
                <a:latin typeface="Arial" pitchFamily="34" charset="0"/>
              </a:rPr>
              <a:t>Inserción</a:t>
            </a:r>
            <a:r>
              <a:rPr lang="es-EC" sz="1300" dirty="0">
                <a:solidFill>
                  <a:srgbClr val="5B6675"/>
                </a:solidFill>
                <a:latin typeface="Arial" pitchFamily="34" charset="0"/>
              </a:rPr>
              <a:t> de datos</a:t>
            </a:r>
          </a:p>
        </p:txBody>
      </p:sp>
      <p:sp>
        <p:nvSpPr>
          <p:cNvPr id="53" name="Card BG"/>
          <p:cNvSpPr/>
          <p:nvPr/>
        </p:nvSpPr>
        <p:spPr>
          <a:xfrm>
            <a:off x="3351737" y="3376467"/>
            <a:ext cx="5488527" cy="2983891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897" y="3513627"/>
            <a:ext cx="5214207" cy="2709571"/>
          </a:xfrm>
          <a:prstGeom prst="rect">
            <a:avLst/>
          </a:prstGeom>
        </p:spPr>
      </p:pic>
      <p:sp>
        <p:nvSpPr>
          <p:cNvPr id="51" name="Card BG"/>
          <p:cNvSpPr/>
          <p:nvPr/>
        </p:nvSpPr>
        <p:spPr>
          <a:xfrm>
            <a:off x="1606719" y="1384440"/>
            <a:ext cx="8978562" cy="759862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879" y="1521600"/>
            <a:ext cx="8704242" cy="485542"/>
          </a:xfrm>
          <a:prstGeom prst="rect">
            <a:avLst/>
          </a:prstGeom>
        </p:spPr>
      </p:pic>
      <p:sp>
        <p:nvSpPr>
          <p:cNvPr id="52" name="Card BG"/>
          <p:cNvSpPr/>
          <p:nvPr/>
        </p:nvSpPr>
        <p:spPr>
          <a:xfrm>
            <a:off x="1674816" y="2327182"/>
            <a:ext cx="8842369" cy="86640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976" y="2464342"/>
            <a:ext cx="8568049" cy="59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4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5418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sz="1300" dirty="0" err="1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</a:t>
            </a: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pycharm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60" name="Card BG"/>
          <p:cNvSpPr/>
          <p:nvPr/>
        </p:nvSpPr>
        <p:spPr>
          <a:xfrm>
            <a:off x="180439" y="1283833"/>
            <a:ext cx="6404323" cy="314699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rcRect t="5701" r="36046"/>
          <a:stretch/>
        </p:blipFill>
        <p:spPr>
          <a:xfrm>
            <a:off x="271879" y="1375273"/>
            <a:ext cx="6221443" cy="2964116"/>
          </a:xfrm>
          <a:prstGeom prst="rect">
            <a:avLst/>
          </a:prstGeom>
        </p:spPr>
      </p:pic>
      <p:sp>
        <p:nvSpPr>
          <p:cNvPr id="61" name="Card BG"/>
          <p:cNvSpPr/>
          <p:nvPr/>
        </p:nvSpPr>
        <p:spPr>
          <a:xfrm>
            <a:off x="6644083" y="2113579"/>
            <a:ext cx="5090717" cy="4122629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523" y="2205019"/>
            <a:ext cx="4907837" cy="3939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C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del .db para cargar a SQLite</a:t>
            </a:r>
            <a:endParaRPr lang="es-EC" sz="1300" dirty="0"/>
          </a:p>
        </p:txBody>
      </p:sp>
      <p:sp>
        <p:nvSpPr>
          <p:cNvPr id="35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50" name="Card BG 1"/>
          <p:cNvSpPr/>
          <p:nvPr/>
        </p:nvSpPr>
        <p:spPr>
          <a:xfrm>
            <a:off x="1139931" y="1384440"/>
            <a:ext cx="4227617" cy="497608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11" y="1567320"/>
            <a:ext cx="3861857" cy="4610328"/>
          </a:xfrm>
          <a:prstGeom prst="rect">
            <a:avLst/>
          </a:prstGeom>
        </p:spPr>
      </p:pic>
      <p:sp>
        <p:nvSpPr>
          <p:cNvPr id="51" name="Card BG 2"/>
          <p:cNvSpPr/>
          <p:nvPr/>
        </p:nvSpPr>
        <p:spPr>
          <a:xfrm>
            <a:off x="5641868" y="2453716"/>
            <a:ext cx="5410200" cy="283753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48" y="2636596"/>
            <a:ext cx="5044440" cy="2471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6B041-7323-579A-F55B-CEB120B3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F51FF8-F01C-39D9-330A-C8CC39B1A29A}"/>
              </a:ext>
            </a:extLst>
          </p:cNvPr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r>
              <a:rPr lang="en-US" sz="2600" b="1" dirty="0" err="1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1DA0AA-4F0B-28A6-C1BA-B6EECB3228BE}"/>
              </a:ext>
            </a:extLst>
          </p:cNvPr>
          <p:cNvSpPr/>
          <p:nvPr/>
        </p:nvSpPr>
        <p:spPr>
          <a:xfrm>
            <a:off x="548640" y="868680"/>
            <a:ext cx="95418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</a:t>
            </a: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vistas </a:t>
            </a:r>
            <a:r>
              <a:rPr lang="en-US" sz="1300" dirty="0" err="1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exportadas</a:t>
            </a: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SQLite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3B3B61-9B4E-0EF4-A5ED-A5816C09D35E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C8A2B9F-341C-5BA6-58E6-B8FC93999B72}"/>
              </a:ext>
            </a:extLst>
          </p:cNvPr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50" name="Card BG"/>
          <p:cNvSpPr/>
          <p:nvPr/>
        </p:nvSpPr>
        <p:spPr>
          <a:xfrm>
            <a:off x="2119649" y="1400000"/>
            <a:ext cx="7952702" cy="4819452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529" y="1582880"/>
            <a:ext cx="7586942" cy="445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2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4C3B0-BC3E-331F-DC00-BD119943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79E33D-53FD-A9CC-4B20-63EC22ACBC73}"/>
              </a:ext>
            </a:extLst>
          </p:cNvPr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Resultados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7FC9E2-85D6-6667-3645-6F9368E4AF46}"/>
              </a:ext>
            </a:extLst>
          </p:cNvPr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14 indicadores crudos en JSON a una base de datos analítica confiable.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06B652-51D6-1EBF-9F84-431387925550}"/>
              </a:ext>
            </a:extLst>
          </p:cNvPr>
          <p:cNvSpPr/>
          <p:nvPr/>
        </p:nvSpPr>
        <p:spPr>
          <a:xfrm>
            <a:off x="54864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32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3EC5A0-F350-CDAA-0735-39EC65F07873}"/>
              </a:ext>
            </a:extLst>
          </p:cNvPr>
          <p:cNvSpPr/>
          <p:nvPr/>
        </p:nvSpPr>
        <p:spPr>
          <a:xfrm>
            <a:off x="54864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693050-4552-A3B1-9A23-DC7C33C31427}"/>
              </a:ext>
            </a:extLst>
          </p:cNvPr>
          <p:cNvSpPr/>
          <p:nvPr/>
        </p:nvSpPr>
        <p:spPr>
          <a:xfrm>
            <a:off x="6400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Silver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D250C5-62B7-A494-3211-B1B3CE448BF0}"/>
              </a:ext>
            </a:extLst>
          </p:cNvPr>
          <p:cNvSpPr/>
          <p:nvPr/>
        </p:nvSpPr>
        <p:spPr>
          <a:xfrm>
            <a:off x="329184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9E84AD-2536-2C87-4028-25286E2E8E15}"/>
              </a:ext>
            </a:extLst>
          </p:cNvPr>
          <p:cNvSpPr/>
          <p:nvPr/>
        </p:nvSpPr>
        <p:spPr>
          <a:xfrm>
            <a:off x="329184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5FA197-285D-5111-6D0F-847CF5845506}"/>
              </a:ext>
            </a:extLst>
          </p:cNvPr>
          <p:cNvSpPr/>
          <p:nvPr/>
        </p:nvSpPr>
        <p:spPr>
          <a:xfrm>
            <a:off x="33832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analíticas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B0D1E11-059D-224A-ED68-13E689A4DA64}"/>
              </a:ext>
            </a:extLst>
          </p:cNvPr>
          <p:cNvSpPr/>
          <p:nvPr/>
        </p:nvSpPr>
        <p:spPr>
          <a:xfrm>
            <a:off x="603504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32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E0472A-F96A-0688-5EFF-2C5886D82F50}"/>
              </a:ext>
            </a:extLst>
          </p:cNvPr>
          <p:cNvSpPr/>
          <p:nvPr/>
        </p:nvSpPr>
        <p:spPr>
          <a:xfrm>
            <a:off x="603504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1.67M</a:t>
            </a:r>
            <a:endParaRPr lang="en-US" sz="3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EF6F56-0AB3-BCE0-2697-A3C1A4C05674}"/>
              </a:ext>
            </a:extLst>
          </p:cNvPr>
          <p:cNvSpPr/>
          <p:nvPr/>
        </p:nvSpPr>
        <p:spPr>
          <a:xfrm>
            <a:off x="61264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del ranking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Supercías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6489E81-F754-AFE8-2934-A73B5C02B939}"/>
              </a:ext>
            </a:extLst>
          </p:cNvPr>
          <p:cNvSpPr/>
          <p:nvPr/>
        </p:nvSpPr>
        <p:spPr>
          <a:xfrm>
            <a:off x="877824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F9CB79-1FFE-DB62-561A-61911FD78D40}"/>
              </a:ext>
            </a:extLst>
          </p:cNvPr>
          <p:cNvSpPr/>
          <p:nvPr/>
        </p:nvSpPr>
        <p:spPr>
          <a:xfrm>
            <a:off x="877824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355F31-8CF8-B640-6B87-65D631A3B1A4}"/>
              </a:ext>
            </a:extLst>
          </p:cNvPr>
          <p:cNvSpPr/>
          <p:nvPr/>
        </p:nvSpPr>
        <p:spPr>
          <a:xfrm>
            <a:off x="88696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resueltas</a:t>
            </a: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100" dirty="0" err="1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1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dashboard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A8FDDFF-5839-33C1-E7E9-7355AB27D925}"/>
              </a:ext>
            </a:extLst>
          </p:cNvPr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preguntas del tablero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67C2BEC-B60B-D12A-C6E9-601830E9A088}"/>
              </a:ext>
            </a:extLst>
          </p:cNvPr>
          <p:cNvSpPr/>
          <p:nvPr/>
        </p:nvSpPr>
        <p:spPr>
          <a:xfrm>
            <a:off x="548640" y="35661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5F5E685-EA2F-6653-B767-5E6AC444FB16}"/>
              </a:ext>
            </a:extLst>
          </p:cNvPr>
          <p:cNvSpPr/>
          <p:nvPr/>
        </p:nvSpPr>
        <p:spPr>
          <a:xfrm>
            <a:off x="777240" y="3639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evoluciona el PIB y el ciclo económico?</a:t>
            </a:r>
            <a:endParaRPr lang="en-US" sz="12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B3D8FF-5DB3-469C-0EFE-1A31F2B6D93F}"/>
              </a:ext>
            </a:extLst>
          </p:cNvPr>
          <p:cNvSpPr/>
          <p:nvPr/>
        </p:nvSpPr>
        <p:spPr>
          <a:xfrm>
            <a:off x="777240" y="395020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PIB real + barras de variación coloreadas por clasificación del ciclo.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34034DF-215D-93F9-6223-41046BF3B688}"/>
              </a:ext>
            </a:extLst>
          </p:cNvPr>
          <p:cNvSpPr/>
          <p:nvPr/>
        </p:nvSpPr>
        <p:spPr>
          <a:xfrm>
            <a:off x="548640" y="44805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A10BCB1-73B1-5C77-D318-28888D298A21}"/>
              </a:ext>
            </a:extLst>
          </p:cNvPr>
          <p:cNvSpPr/>
          <p:nvPr/>
        </p:nvSpPr>
        <p:spPr>
          <a:xfrm>
            <a:off x="777240" y="45537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se concentra la actividad empresarial?</a:t>
            </a:r>
            <a:endParaRPr lang="en-US" sz="12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D871AA3-2C52-E2AF-4AF4-F2DD9B145372}"/>
              </a:ext>
            </a:extLst>
          </p:cNvPr>
          <p:cNvSpPr/>
          <p:nvPr/>
        </p:nvSpPr>
        <p:spPr>
          <a:xfrm>
            <a:off x="777240" y="486460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Guayas y Pichincha concentran cerca del 70% de las empresas activas del país.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9A0BA0A-D74F-F5B1-2E48-0EEDD950529B}"/>
              </a:ext>
            </a:extLst>
          </p:cNvPr>
          <p:cNvSpPr/>
          <p:nvPr/>
        </p:nvSpPr>
        <p:spPr>
          <a:xfrm>
            <a:off x="548640" y="5394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D3721BF-68BC-50F3-401C-A6CFB6A99195}"/>
              </a:ext>
            </a:extLst>
          </p:cNvPr>
          <p:cNvSpPr/>
          <p:nvPr/>
        </p:nvSpPr>
        <p:spPr>
          <a:xfrm>
            <a:off x="777240" y="5468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¿Alcanzan las empresas para los bachilleres que se gradúan?</a:t>
            </a:r>
            <a:endParaRPr lang="en-US" sz="12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718C5F-5B21-6CAE-AE90-CE14BD07EC6D}"/>
              </a:ext>
            </a:extLst>
          </p:cNvPr>
          <p:cNvSpPr/>
          <p:nvPr/>
        </p:nvSpPr>
        <p:spPr>
          <a:xfrm>
            <a:off x="777240" y="577900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Bolívar y Esmeraldas tienen el mayor ratio de bachilleres por empresa activa.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934B2D5-2933-3990-9958-8CD2FF17B437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ADC67F4-B8DC-6EBA-8C2E-F987C6323C2F}"/>
              </a:ext>
            </a:extLst>
          </p:cNvPr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76080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en el tablero de Power BI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vista Gold alimenta directamente una página del tablero.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6463" y="1417320"/>
            <a:ext cx="3755457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1E8A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60520" y="1417320"/>
            <a:ext cx="357979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1E8A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40842" y="1417320"/>
            <a:ext cx="3934327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1E8A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132A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icons/trend_E8A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0060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principal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63040" y="50292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Provincias pequeñas como Bolívar y Esmeraldas gradúan muchos más bachilleres de los que su tejido empresarial local puede absorber — una señal clara para políticas de fomento al emprendimiento regional.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487DCF0-834C-A81C-7706-738D84EB8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1" y="1767111"/>
            <a:ext cx="3474719" cy="190420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A5E35F-7B57-C955-5079-3DC40A327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392" y="1794524"/>
            <a:ext cx="3474719" cy="191545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0876A27-D404-858B-6CC3-D25A93ECD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474" y="1847088"/>
            <a:ext cx="3433010" cy="1874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Conclusiones y recomendaciones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check_1E8A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aprendimos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109728" cy="109728"/>
          </a:xfrm>
          <a:prstGeom prst="ellipse">
            <a:avLst/>
          </a:prstGeom>
          <a:solidFill>
            <a:srgbClr val="1E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97280" y="176479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 un análisis depende de documentar los problemas reales de los datos, no solo de usar buenas herramientas.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109728" cy="109728"/>
          </a:xfrm>
          <a:prstGeom prst="ellipse">
            <a:avLst/>
          </a:prstGeom>
          <a:solidFill>
            <a:srgbClr val="1E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97280" y="281635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por capas permite auditar y reproducir cada transformación aplicada.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023360"/>
            <a:ext cx="109728" cy="109728"/>
          </a:xfrm>
          <a:prstGeom prst="ellipse">
            <a:avLst/>
          </a:prstGeom>
          <a:solidFill>
            <a:srgbClr val="1E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97280" y="386791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la lógica de limpieza del motor de destino (Oracle o SQLite) redujo el riesgo de introducir errores nuevos al migrar.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1097280"/>
            <a:ext cx="5760720" cy="4846320"/>
          </a:xfrm>
          <a:prstGeom prst="roundRect">
            <a:avLst>
              <a:gd name="adj" fmla="val 1509"/>
            </a:avLst>
          </a:prstGeom>
          <a:solidFill>
            <a:srgbClr val="132A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target_E8AA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26480" y="1920240"/>
            <a:ext cx="109728" cy="109728"/>
          </a:xfrm>
          <a:prstGeom prst="ellipse">
            <a:avLst/>
          </a:prstGeom>
          <a:solidFill>
            <a:srgbClr val="E8A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0" y="176479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explícitamente la codificación UTF-8 desde el origen (RPA) para evitar pérdidas irreversibles de tildes y eñes.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2971800"/>
            <a:ext cx="109728" cy="109728"/>
          </a:xfrm>
          <a:prstGeom prst="ellipse">
            <a:avLst/>
          </a:prstGeom>
          <a:solidFill>
            <a:srgbClr val="E8A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0" y="281635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pruebas de reproducibilidad (correr el pipeline 2 veces y comparar) como parte estándar del proceso de limpieza.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26480" y="4023360"/>
            <a:ext cx="109728" cy="109728"/>
          </a:xfrm>
          <a:prstGeom prst="ellipse">
            <a:avLst/>
          </a:prstGeom>
          <a:solidFill>
            <a:srgbClr val="E8A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00800" y="386791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continuidad al pipeline incorporando nuevas fuentes: la arquitectura ya está preparada para escalar sin rediseñarse.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5074920"/>
            <a:ext cx="109728" cy="109728"/>
          </a:xfrm>
          <a:prstGeom prst="ellipse">
            <a:avLst/>
          </a:prstGeom>
          <a:solidFill>
            <a:srgbClr val="E8A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400800" y="49194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Formalizar las relaciones entre tablas Silver con dimensiones y FK reales, no solo llaves naturales compartidas.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  ·  Practicum 1.2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32A4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1E8A9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del jurado — 3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Antonio Vargas Ruiz  ·  Practicum 1.2  ·  UTPL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</TotalTime>
  <Words>821</Words>
  <Application>Microsoft Office PowerPoint</Application>
  <PresentationFormat>Panorámica</PresentationFormat>
  <Paragraphs>125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Antonio Vargas Ruiz</cp:lastModifiedBy>
  <cp:revision>4</cp:revision>
  <dcterms:created xsi:type="dcterms:W3CDTF">2026-07-23T04:10:02Z</dcterms:created>
  <dcterms:modified xsi:type="dcterms:W3CDTF">2026-07-23T05:36:40Z</dcterms:modified>
</cp:coreProperties>
</file>